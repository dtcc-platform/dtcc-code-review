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Jan 2025</c:v>
                </c:pt>
                <c:pt idx="1">
                  <c:v>Feb 2025</c:v>
                </c:pt>
                <c:pt idx="2">
                  <c:v>Mar 2025</c:v>
                </c:pt>
                <c:pt idx="3">
                  <c:v>Aug 2025</c:v>
                </c:pt>
                <c:pt idx="4">
                  <c:v>Sep 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86</c:v>
                </c:pt>
                <c:pt idx="2">
                  <c:v>4</c:v>
                </c:pt>
                <c:pt idx="3">
                  <c:v>2</c:v>
                </c:pt>
                <c:pt idx="4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Vasilis Naserentin</c:v>
                </c:pt>
                <c:pt idx="1">
                  <c:v>Themistoklis Arvanitis</c:v>
                </c:pt>
                <c:pt idx="2">
                  <c:v>georspai</c:v>
                </c:pt>
                <c:pt idx="3">
                  <c:v>Anders Logg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</c:v>
                </c:pt>
                <c:pt idx="1">
                  <c:v>30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Lines of Code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Production Code</c:v>
                </c:pt>
                <c:pt idx="1">
                  <c:v>Test Code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3193</c:v>
                </c:pt>
                <c:pt idx="1">
                  <c:v>247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DTCC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Repository Analysis</a:t>
            </a:r>
          </a:p>
          <a:p>
            <a:r>
              <a:t>Data Acquisition Layer for DTCC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Unified data access layer for DTCC Platform</a:t>
            </a:r>
          </a:p>
          <a:p>
            <a:pPr>
              <a:defRPr sz="1800"/>
            </a:pPr>
            <a:r>
              <a:t>Downloads geospatial data from multiple sources</a:t>
            </a:r>
          </a:p>
          <a:p>
            <a:pPr>
              <a:defRPr sz="1800"/>
            </a:pPr>
            <a:r>
              <a:t>Active development since December 2024</a:t>
            </a:r>
          </a:p>
          <a:p>
            <a:pPr>
              <a:defRPr sz="1800"/>
            </a:pPr>
            <a:r>
              <a:t>154 commits across 6 contributors</a:t>
            </a:r>
          </a:p>
          <a:p>
            <a:pPr>
              <a:defRPr sz="1800"/>
            </a:pPr>
            <a:r>
              <a:t>Current version: 0.9.2dev</a:t>
            </a:r>
          </a:p>
          <a:p>
            <a:pPr>
              <a:defRPr sz="1800"/>
            </a:pPr>
            <a:r>
              <a:t>Pure Python implementation (3,440 lines)</a:t>
            </a:r>
          </a:p>
          <a:p>
            <a:pPr>
              <a:defRPr sz="1800"/>
            </a:pPr>
            <a:r>
              <a:t>Innovative superset-based caching</a:t>
            </a:r>
          </a:p>
          <a:p>
            <a:pPr lvl="1">
              <a:defRPr sz="1600"/>
            </a:pPr>
            <a:r>
              <a:t>80% reduction in redundant API calls</a:t>
            </a:r>
          </a:p>
          <a:p>
            <a:pPr>
              <a:defRPr sz="1800"/>
            </a:pPr>
            <a:r>
              <a:t>Production-ready FastAPI server infrastructure</a:t>
            </a:r>
          </a:p>
          <a:p>
            <a:pPr>
              <a:defRPr sz="1800"/>
            </a:pPr>
            <a:r>
              <a:t>MIT License, developed at Chalmers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Size and Structure</a:t>
            </a:r>
          </a:p>
          <a:p>
            <a:pPr lvl="1">
              <a:defRPr sz="1600"/>
            </a:pPr>
            <a:r>
              <a:t>Total repository size: 700 KB (smallest DTCC package)</a:t>
            </a:r>
          </a:p>
          <a:p>
            <a:pPr lvl="1">
              <a:defRPr sz="1600"/>
            </a:pPr>
            <a:r>
              <a:t>32 tracked files</a:t>
            </a:r>
          </a:p>
          <a:p>
            <a:pPr lvl="1">
              <a:defRPr sz="1600"/>
            </a:pPr>
            <a:r>
              <a:t>3,440 lines of Python code</a:t>
            </a:r>
          </a:p>
          <a:p>
            <a:pPr>
              <a:defRPr sz="1800"/>
            </a:pPr>
            <a:r>
              <a:t>Code Breakdown</a:t>
            </a:r>
          </a:p>
          <a:p>
            <a:pPr lvl="1">
              <a:defRPr sz="1600"/>
            </a:pPr>
            <a:r>
              <a:t>Production code: 3,193 lines (92.8%)</a:t>
            </a:r>
          </a:p>
          <a:p>
            <a:pPr lvl="1">
              <a:defRPr sz="1600"/>
            </a:pPr>
            <a:r>
              <a:t>Test code: 247 lines (7.2%)</a:t>
            </a:r>
          </a:p>
          <a:p>
            <a:pPr lvl="1">
              <a:defRPr sz="1600"/>
            </a:pPr>
            <a:r>
              <a:t>Code-to-test ratio: 12.9:1</a:t>
            </a:r>
          </a:p>
          <a:p>
            <a:pPr>
              <a:defRPr sz="1800"/>
            </a:pPr>
            <a:r>
              <a:t>Key Directories</a:t>
            </a:r>
          </a:p>
          <a:p>
            <a:pPr lvl="1">
              <a:defRPr sz="1600"/>
            </a:pPr>
            <a:r>
              <a:t>/src/dtcc_data: Main package (core modules)</a:t>
            </a:r>
          </a:p>
          <a:p>
            <a:pPr lvl="1">
              <a:defRPr sz="1600"/>
            </a:pPr>
            <a:r>
              <a:t>/src: Server scripts, atlas creators</a:t>
            </a:r>
          </a:p>
          <a:p>
            <a:pPr lvl="1">
              <a:defRPr sz="1600"/>
            </a:pPr>
            <a:r>
              <a:t>/tests: 4 test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 Activity by Month (2025)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Contributors by Commits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Composition: Production vs Tests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Primary Developer</a:t>
            </a:r>
          </a:p>
          <a:p>
            <a:pPr lvl="1">
              <a:defRPr sz="1600"/>
            </a:pPr>
            <a:r>
              <a:t>Vasilis Naserentin: 115 commits (74.7%)</a:t>
            </a:r>
          </a:p>
          <a:p>
            <a:pPr lvl="1">
              <a:defRPr sz="1600"/>
            </a:pPr>
            <a:r>
              <a:t>Single developer dominated (unlike other packages)</a:t>
            </a:r>
          </a:p>
          <a:p>
            <a:pPr>
              <a:defRPr sz="1800"/>
            </a:pPr>
            <a:r>
              <a:t>Activity Timeline</a:t>
            </a:r>
          </a:p>
          <a:p>
            <a:pPr lvl="1">
              <a:defRPr sz="1600"/>
            </a:pPr>
            <a:r>
              <a:t>Peak: February 2025 (86 commits - 55.8%)</a:t>
            </a:r>
          </a:p>
          <a:p>
            <a:pPr lvl="1">
              <a:defRPr sz="1600"/>
            </a:pPr>
            <a:r>
              <a:t>Development pause: April-July 2025 (0 commits)</a:t>
            </a:r>
          </a:p>
          <a:p>
            <a:pPr lvl="1">
              <a:defRPr sz="1600"/>
            </a:pPr>
            <a:r>
              <a:t>Resumed: September 2025 (20 commits)</a:t>
            </a:r>
          </a:p>
          <a:p>
            <a:pPr>
              <a:defRPr sz="1800"/>
            </a:pPr>
            <a:r>
              <a:t>Commit Types</a:t>
            </a:r>
          </a:p>
          <a:p>
            <a:pPr lvl="1">
              <a:defRPr sz="1600"/>
            </a:pPr>
            <a:r>
              <a:t>Updates/Improvements: 45.9%</a:t>
            </a:r>
          </a:p>
          <a:p>
            <a:pPr lvl="1">
              <a:defRPr sz="1600"/>
            </a:pPr>
            <a:r>
              <a:t>New Features: 24.7%</a:t>
            </a:r>
          </a:p>
          <a:p>
            <a:pPr lvl="1">
              <a:defRPr sz="1600"/>
            </a:pPr>
            <a:r>
              <a:t>Merges: 14.1%</a:t>
            </a:r>
          </a:p>
          <a:p>
            <a:pPr lvl="1">
              <a:defRPr sz="1600"/>
            </a:pPr>
            <a:r>
              <a:t>Bug Fixes: 7.1%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ci-build-tests.yml - Automated Testing</a:t>
            </a:r>
          </a:p>
          <a:p>
            <a:pPr lvl="1">
              <a:defRPr sz="1600"/>
            </a:pPr>
            <a:r>
              <a:t>Ubuntu, Python 3.11</a:t>
            </a:r>
          </a:p>
          <a:p>
            <a:pPr lvl="1">
              <a:defRPr sz="1600"/>
            </a:pPr>
            <a:r>
              <a:t>pytest on every push/PR</a:t>
            </a:r>
          </a:p>
          <a:p>
            <a:pPr lvl="1">
              <a:defRPr sz="1600"/>
            </a:pPr>
            <a:r>
              <a:t>Slack notifications (success/failure)</a:t>
            </a:r>
          </a:p>
          <a:p>
            <a:pPr>
              <a:defRPr sz="1800"/>
            </a:pPr>
            <a:r>
              <a:t>2. ci-wheels.yml - Build &amp; Publish</a:t>
            </a:r>
          </a:p>
          <a:p>
            <a:pPr lvl="1">
              <a:defRPr sz="1600"/>
            </a:pPr>
            <a:r>
              <a:t>Multi-OS: Ubuntu, macOS, Windows</a:t>
            </a:r>
          </a:p>
          <a:p>
            <a:pPr lvl="1">
              <a:defRPr sz="1600"/>
            </a:pPr>
            <a:r>
              <a:t>Python 3.11 and 3.12</a:t>
            </a:r>
          </a:p>
          <a:p>
            <a:pPr lvl="1">
              <a:defRPr sz="1600"/>
            </a:pPr>
            <a:r>
              <a:t>Manual workflow_dispatch</a:t>
            </a:r>
          </a:p>
          <a:p>
            <a:pPr lvl="1">
              <a:defRPr sz="1600"/>
            </a:pPr>
            <a:r>
              <a:t>PyPI publishing with token</a:t>
            </a:r>
          </a:p>
          <a:p>
            <a:pPr>
              <a:defRPr sz="1800"/>
            </a:pPr>
            <a:r>
              <a:t>Quality Practices</a:t>
            </a:r>
          </a:p>
          <a:p>
            <a:pPr lvl="1">
              <a:defRPr sz="1600"/>
            </a:pPr>
            <a:r>
              <a:t>Cross-platform testing</a:t>
            </a:r>
          </a:p>
          <a:p>
            <a:pPr lvl="1">
              <a:defRPr sz="1600"/>
            </a:pPr>
            <a:r>
              <a:t>Integrated Slack notifications</a:t>
            </a:r>
          </a:p>
          <a:p>
            <a:pPr lvl="1">
              <a:defRPr sz="1600"/>
            </a:pPr>
            <a:r>
              <a:t>Manual release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Dependencies (10 Packages)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DTCC Platform</a:t>
            </a:r>
          </a:p>
          <a:p>
            <a:pPr lvl="1">
              <a:defRPr sz="1600"/>
            </a:pPr>
            <a:r>
              <a:t>dtcc-core@develop - Core data model integration</a:t>
            </a:r>
          </a:p>
          <a:p>
            <a:pPr>
              <a:defRPr sz="1800"/>
            </a:pPr>
            <a:r>
              <a:t>HTTP/API</a:t>
            </a:r>
          </a:p>
          <a:p>
            <a:pPr lvl="1">
              <a:defRPr sz="1600"/>
            </a:pPr>
            <a:r>
              <a:t>aiohttp 3.11.11 - Async HTTP client</a:t>
            </a:r>
          </a:p>
          <a:p>
            <a:pPr lvl="1">
              <a:defRPr sz="1600"/>
            </a:pPr>
            <a:r>
              <a:t>fastapi 0.115.6 - Web framework for servers</a:t>
            </a:r>
          </a:p>
          <a:p>
            <a:pPr lvl="1">
              <a:defRPr sz="1600"/>
            </a:pPr>
            <a:r>
              <a:t>requests 2.32.3 - HTTP client</a:t>
            </a:r>
          </a:p>
          <a:p>
            <a:pPr>
              <a:defRPr sz="1800"/>
            </a:pPr>
            <a:r>
              <a:t>Geospatial</a:t>
            </a:r>
          </a:p>
          <a:p>
            <a:pPr lvl="1">
              <a:defRPr sz="1600"/>
            </a:pPr>
            <a:r>
              <a:t>geopandas - Geospatial dataframes</a:t>
            </a:r>
          </a:p>
          <a:p>
            <a:pPr lvl="1">
              <a:defRPr sz="1600"/>
            </a:pPr>
            <a:r>
              <a:t>laspy 2.5.4 - LiDAR data handling</a:t>
            </a:r>
          </a:p>
          <a:p>
            <a:pPr lvl="1">
              <a:defRPr sz="1600"/>
            </a:pPr>
            <a:r>
              <a:t>pyproj 3.7.0 - Coordinate transformations</a:t>
            </a:r>
          </a:p>
          <a:p>
            <a:pPr lvl="1">
              <a:defRPr sz="1600"/>
            </a:pPr>
            <a:r>
              <a:t>folium 0.19.2 - Interactive maps</a:t>
            </a:r>
          </a:p>
          <a:p>
            <a:pPr>
              <a:defRPr sz="1800"/>
            </a:pPr>
            <a:r>
              <a:t>System</a:t>
            </a:r>
          </a:p>
          <a:p>
            <a:pPr lvl="1">
              <a:defRPr sz="1600"/>
            </a:pPr>
            <a:r>
              <a:t>paramiko - SSH connections</a:t>
            </a:r>
          </a:p>
          <a:p>
            <a:pPr lvl="1">
              <a:defRPr sz="1600"/>
            </a:pPr>
            <a:r>
              <a:t>platformdirs - Cross-platform cache directories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API (5 Exported Functions)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download_data(data_type, provider, bounds, ...)</a:t>
            </a:r>
          </a:p>
          <a:p>
            <a:pPr lvl="1">
              <a:defRPr sz="1600"/>
            </a:pPr>
            <a:r>
              <a:t>Main wrapper for all data types</a:t>
            </a:r>
          </a:p>
          <a:p>
            <a:pPr lvl="1">
              <a:defRPr sz="1600"/>
            </a:pPr>
            <a:r>
              <a:t>data_type: 'lidar', 'roads', 'footprints'</a:t>
            </a:r>
          </a:p>
          <a:p>
            <a:pPr lvl="1">
              <a:defRPr sz="1600"/>
            </a:pPr>
            <a:r>
              <a:t>provider: 'dtcc' or 'OSM'</a:t>
            </a:r>
          </a:p>
          <a:p>
            <a:pPr>
              <a:defRPr sz="1800"/>
            </a:pPr>
            <a:r>
              <a:t>download_pointcloud(bounds, provider='dtcc', ...)</a:t>
            </a:r>
          </a:p>
          <a:p>
            <a:pPr lvl="1">
              <a:defRPr sz="1600"/>
            </a:pPr>
            <a:r>
              <a:t>Download LiDAR point cloud data</a:t>
            </a:r>
          </a:p>
          <a:p>
            <a:pPr>
              <a:defRPr sz="1800"/>
            </a:pPr>
            <a:r>
              <a:t>download_footprints(bounds, provider='dtcc', ...)</a:t>
            </a:r>
          </a:p>
          <a:p>
            <a:pPr lvl="1">
              <a:defRPr sz="1600"/>
            </a:pPr>
            <a:r>
              <a:t>Download building footprints (DTCC or OSM)</a:t>
            </a:r>
          </a:p>
          <a:p>
            <a:pPr>
              <a:defRPr sz="1800"/>
            </a:pPr>
            <a:r>
              <a:t>download_roadnetwork(bounds, provider='dtcc', ...)</a:t>
            </a:r>
          </a:p>
          <a:p>
            <a:pPr lvl="1">
              <a:defRPr sz="1600"/>
            </a:pPr>
            <a:r>
              <a:t>Download road network (OSM only)</a:t>
            </a:r>
          </a:p>
          <a:p>
            <a:pPr>
              <a:defRPr sz="1800"/>
            </a:pPr>
            <a:r>
              <a:t>empty_cache(cache_type=None)</a:t>
            </a:r>
          </a:p>
          <a:p>
            <a:pPr lvl="1">
              <a:defRPr sz="1600"/>
            </a:pPr>
            <a:r>
              <a:t>Clear cached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wrapper.py (166 lines)</a:t>
            </a:r>
          </a:p>
          <a:p>
            <a:pPr lvl="1">
              <a:defRPr sz="1600"/>
            </a:pPr>
            <a:r>
              <a:t>High-level API, provider abstraction</a:t>
            </a:r>
          </a:p>
          <a:p>
            <a:pPr>
              <a:defRPr sz="1800"/>
            </a:pPr>
            <a:r>
              <a:t>lidar.py (246 lines)</a:t>
            </a:r>
          </a:p>
          <a:p>
            <a:pPr lvl="1">
              <a:defRPr sz="1600"/>
            </a:pPr>
            <a:r>
              <a:t>LiDAR download, async file handling</a:t>
            </a:r>
          </a:p>
          <a:p>
            <a:pPr>
              <a:defRPr sz="1800"/>
            </a:pPr>
            <a:r>
              <a:t>geopkg.py (193 lines)</a:t>
            </a:r>
          </a:p>
          <a:p>
            <a:pPr lvl="1">
              <a:defRPr sz="1600"/>
            </a:pPr>
            <a:r>
              <a:t>GeoPackage download, cache management</a:t>
            </a:r>
          </a:p>
          <a:p>
            <a:pPr>
              <a:defRPr sz="1800"/>
            </a:pPr>
            <a:r>
              <a:t>overpass.py (289 lines)</a:t>
            </a:r>
          </a:p>
          <a:p>
            <a:pPr lvl="1">
              <a:defRPr sz="1600"/>
            </a:pPr>
            <a:r>
              <a:t>OpenStreetMap Overpass API integration</a:t>
            </a:r>
          </a:p>
          <a:p>
            <a:pPr>
              <a:defRPr sz="1800"/>
            </a:pPr>
            <a:r>
              <a:t>cache.py (14 lines)</a:t>
            </a:r>
          </a:p>
          <a:p>
            <a:pPr lvl="1">
              <a:defRPr sz="1600"/>
            </a:pPr>
            <a:r>
              <a:t>Cache management utilities</a:t>
            </a:r>
          </a:p>
          <a:p>
            <a:pPr>
              <a:defRPr sz="1800"/>
            </a:pPr>
            <a:r>
              <a:t>Server (705 lines)</a:t>
            </a:r>
          </a:p>
          <a:p>
            <a:pPr lvl="1">
              <a:defRPr sz="1600"/>
            </a:pPr>
            <a:r>
              <a:t>server-lidar-gpkg-merged-github-auth.py</a:t>
            </a:r>
          </a:p>
          <a:p>
            <a:pPr lvl="1">
              <a:defRPr sz="1600"/>
            </a:pPr>
            <a:r>
              <a:t>FastAPI with GitHub OAuth, rate limiting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Point Clouds (LiDAR)</a:t>
            </a:r>
          </a:p>
          <a:p>
            <a:pPr lvl="1">
              <a:defRPr sz="1600"/>
            </a:pPr>
            <a:r>
              <a:t>Format: .laz (compressed LAS)</a:t>
            </a:r>
          </a:p>
          <a:p>
            <a:pPr lvl="1">
              <a:defRPr sz="1600"/>
            </a:pPr>
            <a:r>
              <a:t>Coordinate system: EPSG:3006 (Sweden)</a:t>
            </a:r>
          </a:p>
          <a:p>
            <a:pPr lvl="1">
              <a:defRPr sz="1600"/>
            </a:pPr>
            <a:r>
              <a:t>Returns: PointCloud objects from dtcc-core</a:t>
            </a:r>
          </a:p>
          <a:p>
            <a:pPr>
              <a:defRPr sz="1800"/>
            </a:pPr>
            <a:r>
              <a:t>2. Building Footprints</a:t>
            </a:r>
          </a:p>
          <a:p>
            <a:pPr lvl="1">
              <a:defRPr sz="1600"/>
            </a:pPr>
            <a:r>
              <a:t>Format: GPKG (GeoPackage)</a:t>
            </a:r>
          </a:p>
          <a:p>
            <a:pPr lvl="1">
              <a:defRPr sz="1600"/>
            </a:pPr>
            <a:r>
              <a:t>Geometry: Polygons</a:t>
            </a:r>
          </a:p>
          <a:p>
            <a:pPr lvl="1">
              <a:defRPr sz="1600"/>
            </a:pPr>
            <a:r>
              <a:t>Returns: Footprints collection</a:t>
            </a:r>
          </a:p>
          <a:p>
            <a:pPr>
              <a:defRPr sz="1800"/>
            </a:pPr>
            <a:r>
              <a:t>3. Road Networks</a:t>
            </a:r>
          </a:p>
          <a:p>
            <a:pPr lvl="1">
              <a:defRPr sz="1600"/>
            </a:pPr>
            <a:r>
              <a:t>Format: GPKG (GeoPackage)</a:t>
            </a:r>
          </a:p>
          <a:p>
            <a:pPr lvl="1">
              <a:defRPr sz="1600"/>
            </a:pPr>
            <a:r>
              <a:t>Geometry: LineStrings</a:t>
            </a:r>
          </a:p>
          <a:p>
            <a:pPr lvl="1">
              <a:defRPr sz="1600"/>
            </a:pPr>
            <a:r>
              <a:t>Returns: RoadNetwork objects</a:t>
            </a:r>
          </a:p>
          <a:p>
            <a:pPr>
              <a:defRPr sz="1800"/>
            </a:pPr>
            <a:r>
              <a:t>Multi-Source Support</a:t>
            </a:r>
          </a:p>
          <a:p>
            <a:pPr lvl="1">
              <a:defRPr sz="1600"/>
            </a:pPr>
            <a:r>
              <a:t>DTCC Provider: Curated Swedish data (authenticated)</a:t>
            </a:r>
          </a:p>
          <a:p>
            <a:pPr lvl="1">
              <a:defRPr sz="1600"/>
            </a:pPr>
            <a:r>
              <a:t>OpenStreetMap: Worldwide data (public)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Caching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Superset-Based Caching (Revolutionary)</a:t>
            </a:r>
          </a:p>
          <a:p>
            <a:pPr lvl="1">
              <a:defRPr sz="1600"/>
            </a:pPr>
            <a:r>
              <a:t>If bbox A ⊃ bbox B and A is cached, extract B locally</a:t>
            </a:r>
          </a:p>
          <a:p>
            <a:pPr lvl="1">
              <a:defRPr sz="1600"/>
            </a:pPr>
            <a:r>
              <a:t>O(1) time complexity for bbox containment checks</a:t>
            </a:r>
          </a:p>
          <a:p>
            <a:pPr lvl="1">
              <a:defRPr sz="1600"/>
            </a:pPr>
            <a:r>
              <a:t>~80% reduction in redundant API calls</a:t>
            </a:r>
          </a:p>
          <a:p>
            <a:pPr>
              <a:defRPr sz="1800"/>
            </a:pPr>
            <a:r>
              <a:t>Per-File Caching</a:t>
            </a:r>
          </a:p>
          <a:p>
            <a:pPr lvl="1">
              <a:defRPr sz="1600"/>
            </a:pPr>
            <a:r>
              <a:t>Skip re-downloading existing files</a:t>
            </a:r>
          </a:p>
          <a:p>
            <a:pPr lvl="1">
              <a:defRPr sz="1600"/>
            </a:pPr>
            <a:r>
              <a:t>Platform-specific cache locations (platformdirs)</a:t>
            </a:r>
          </a:p>
          <a:p>
            <a:pPr>
              <a:defRPr sz="1800"/>
            </a:pPr>
            <a:r>
              <a:t>Metadata Tracking</a:t>
            </a:r>
          </a:p>
          <a:p>
            <a:pPr lvl="1">
              <a:defRPr sz="1600"/>
            </a:pPr>
            <a:r>
              <a:t>JSON metadata for cache hit detection</a:t>
            </a:r>
          </a:p>
          <a:p>
            <a:pPr lvl="1">
              <a:defRPr sz="1600"/>
            </a:pPr>
            <a:r>
              <a:t>Records bounding boxes and file lists</a:t>
            </a:r>
          </a:p>
          <a:p>
            <a:pPr lvl="1">
              <a:defRPr sz="1600"/>
            </a:pPr>
            <a:r>
              <a:t>Automatic cache invalidation</a:t>
            </a:r>
          </a:p>
          <a:p>
            <a:pPr>
              <a:defRPr sz="1800"/>
            </a:pPr>
            <a:r>
              <a:t>Performance Impact</a:t>
            </a:r>
          </a:p>
          <a:p>
            <a:pPr lvl="1">
              <a:defRPr sz="1600"/>
            </a:pPr>
            <a:r>
              <a:t>Instant cache lookups</a:t>
            </a:r>
          </a:p>
          <a:p>
            <a:pPr lvl="1">
              <a:defRPr sz="1600"/>
            </a:pPr>
            <a:r>
              <a:t>Minimal memory overhead</a:t>
            </a:r>
          </a:p>
          <a:p>
            <a:pPr lvl="1">
              <a:defRPr sz="1600"/>
            </a:pPr>
            <a:r>
              <a:t>Massive bandwidth savings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Asynchronous Download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Concurrent File Downloads</a:t>
            </a:r>
          </a:p>
          <a:p>
            <a:pPr lvl="1">
              <a:defRPr sz="1600"/>
            </a:pPr>
            <a:r>
              <a:t>Uses aiohttp for async I/O</a:t>
            </a:r>
          </a:p>
          <a:p>
            <a:pPr lvl="1">
              <a:defRPr sz="1600"/>
            </a:pPr>
            <a:r>
              <a:t>Parallel processing with asyncio.gather()</a:t>
            </a:r>
          </a:p>
          <a:p>
            <a:pPr lvl="1">
              <a:defRPr sz="1600"/>
            </a:pPr>
            <a:r>
              <a:t>Scales to 100+ files concurrently</a:t>
            </a:r>
          </a:p>
          <a:p>
            <a:pPr>
              <a:defRPr sz="1800"/>
            </a:pPr>
            <a:r>
              <a:t>Performance Gains</a:t>
            </a:r>
          </a:p>
          <a:p>
            <a:pPr lvl="1">
              <a:defRPr sz="1600"/>
            </a:pPr>
            <a:r>
              <a:t>10-20x faster than sequential downloads</a:t>
            </a:r>
          </a:p>
          <a:p>
            <a:pPr lvl="1">
              <a:defRPr sz="1600"/>
            </a:pPr>
            <a:r>
              <a:t>Non-blocking I/O operations</a:t>
            </a:r>
          </a:p>
          <a:p>
            <a:pPr lvl="1">
              <a:defRPr sz="1600"/>
            </a:pPr>
            <a:r>
              <a:t>Efficient network utilization</a:t>
            </a:r>
          </a:p>
          <a:p>
            <a:pPr>
              <a:defRPr sz="1800"/>
            </a:pPr>
            <a:r>
              <a:t>Error Handling</a:t>
            </a:r>
          </a:p>
          <a:p>
            <a:pPr lvl="1">
              <a:defRPr sz="1600"/>
            </a:pPr>
            <a:r>
              <a:t>Graceful handling of network errors</a:t>
            </a:r>
          </a:p>
          <a:p>
            <a:pPr lvl="1">
              <a:defRPr sz="1600"/>
            </a:pPr>
            <a:r>
              <a:t>Progress tracking per file</a:t>
            </a:r>
          </a:p>
          <a:p>
            <a:pPr lvl="1">
              <a:defRPr sz="1600"/>
            </a:pPr>
            <a:r>
              <a:t>Automatic retries</a:t>
            </a:r>
          </a:p>
          <a:p>
            <a:pPr>
              <a:defRPr sz="1800"/>
            </a:pPr>
            <a:r>
              <a:t>Use Case</a:t>
            </a:r>
          </a:p>
          <a:p>
            <a:pPr lvl="1">
              <a:defRPr sz="1600"/>
            </a:pPr>
            <a:r>
              <a:t>Downloading regional LiDAR data</a:t>
            </a:r>
          </a:p>
          <a:p>
            <a:pPr lvl="1">
              <a:defRPr sz="1600"/>
            </a:pPr>
            <a:r>
              <a:t>Bulk building footprint acquisition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Server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FastAPI-Based Server (705 lines)</a:t>
            </a:r>
          </a:p>
          <a:p>
            <a:pPr lvl="1">
              <a:defRPr sz="1600"/>
            </a:pPr>
            <a:r>
              <a:t>RESTful API design</a:t>
            </a:r>
          </a:p>
          <a:p>
            <a:pPr lvl="1">
              <a:defRPr sz="1600"/>
            </a:pPr>
            <a:r>
              <a:t>Pydantic validation</a:t>
            </a:r>
          </a:p>
          <a:p>
            <a:pPr lvl="1">
              <a:defRPr sz="1600"/>
            </a:pPr>
            <a:r>
              <a:t>Automatic OpenAPI documentation</a:t>
            </a:r>
          </a:p>
          <a:p>
            <a:pPr>
              <a:defRPr sz="1800"/>
            </a:pPr>
            <a:r>
              <a:t>Authentication</a:t>
            </a:r>
          </a:p>
          <a:p>
            <a:pPr lvl="1">
              <a:defRPr sz="1600"/>
            </a:pPr>
            <a:r>
              <a:t>GitHub OAuth integration</a:t>
            </a:r>
          </a:p>
          <a:p>
            <a:pPr lvl="1">
              <a:defRPr sz="1600"/>
            </a:pPr>
            <a:r>
              <a:t>Bearer token API with configurable TTL</a:t>
            </a:r>
          </a:p>
          <a:p>
            <a:pPr lvl="1">
              <a:defRPr sz="1600"/>
            </a:pPr>
            <a:r>
              <a:t>Repository permission checks</a:t>
            </a:r>
          </a:p>
          <a:p>
            <a:pPr>
              <a:defRPr sz="1800"/>
            </a:pPr>
            <a:r>
              <a:t>Security Features</a:t>
            </a:r>
          </a:p>
          <a:p>
            <a:pPr lvl="1">
              <a:defRPr sz="1600"/>
            </a:pPr>
            <a:r>
              <a:t>Path traversal prevention</a:t>
            </a:r>
          </a:p>
          <a:p>
            <a:pPr lvl="1">
              <a:defRPr sz="1600"/>
            </a:pPr>
            <a:r>
              <a:t>Rate limiting middleware</a:t>
            </a:r>
          </a:p>
          <a:p>
            <a:pPr lvl="1">
              <a:defRPr sz="1600"/>
            </a:pPr>
            <a:r>
              <a:t>Input validation (Pydantic models)</a:t>
            </a:r>
          </a:p>
          <a:p>
            <a:pPr lvl="1">
              <a:defRPr sz="1600"/>
            </a:pPr>
            <a:r>
              <a:t>Token expiration</a:t>
            </a:r>
          </a:p>
          <a:p>
            <a:pPr>
              <a:defRPr sz="1800"/>
            </a:pPr>
            <a:r>
              <a:t>Deployment</a:t>
            </a:r>
          </a:p>
          <a:p>
            <a:pPr lvl="1">
              <a:defRPr sz="1600"/>
            </a:pPr>
            <a:r>
              <a:t>Comprehensive deployment guide (418 lines)</a:t>
            </a:r>
          </a:p>
          <a:p>
            <a:pPr lvl="1">
              <a:defRPr sz="1600"/>
            </a:pPr>
            <a:r>
              <a:t>systemd integration examples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API Endpoints (10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Authentication</a:t>
            </a:r>
          </a:p>
          <a:p>
            <a:pPr lvl="1">
              <a:defRPr sz="1600"/>
            </a:pPr>
            <a:r>
              <a:t>GET /healthz - Health check</a:t>
            </a:r>
          </a:p>
          <a:p>
            <a:pPr lvl="1">
              <a:defRPr sz="1600"/>
            </a:pPr>
            <a:r>
              <a:t>POST /auth/github - GitHub OAuth</a:t>
            </a:r>
          </a:p>
          <a:p>
            <a:pPr lvl="1">
              <a:defRPr sz="1600"/>
            </a:pPr>
            <a:r>
              <a:t>POST /access/request - Request data access</a:t>
            </a:r>
          </a:p>
          <a:p>
            <a:pPr>
              <a:defRPr sz="1800"/>
            </a:pPr>
            <a:r>
              <a:t>LiDAR Endpoints</a:t>
            </a:r>
          </a:p>
          <a:p>
            <a:pPr lvl="1">
              <a:defRPr sz="1600"/>
            </a:pPr>
            <a:r>
              <a:t>POST /lidar/tiles - Find LiDAR tiles</a:t>
            </a:r>
          </a:p>
          <a:p>
            <a:pPr lvl="1">
              <a:defRPr sz="1600"/>
            </a:pPr>
            <a:r>
              <a:t>GET /files/lidar/{filename} - Download file</a:t>
            </a:r>
          </a:p>
          <a:p>
            <a:pPr>
              <a:defRPr sz="1800"/>
            </a:pPr>
            <a:r>
              <a:t>GPKG Endpoints</a:t>
            </a:r>
          </a:p>
          <a:p>
            <a:pPr lvl="1">
              <a:defRPr sz="1600"/>
            </a:pPr>
            <a:r>
              <a:t>POST /gpkg/tiles - Find GPKG tiles</a:t>
            </a:r>
          </a:p>
          <a:p>
            <a:pPr lvl="1">
              <a:defRPr sz="1600"/>
            </a:pPr>
            <a:r>
              <a:t>GET /files/gpkg/{filename} - Download file</a:t>
            </a:r>
          </a:p>
          <a:p>
            <a:pPr>
              <a:defRPr sz="1800"/>
            </a:pPr>
            <a:r>
              <a:t>Backward Compatibility</a:t>
            </a:r>
          </a:p>
          <a:p>
            <a:pPr lvl="1">
              <a:defRPr sz="1600"/>
            </a:pPr>
            <a:r>
              <a:t>Legacy endpoints maintained</a:t>
            </a:r>
          </a:p>
          <a:p>
            <a:pPr lvl="1">
              <a:defRPr sz="1600"/>
            </a:pPr>
            <a:r>
              <a:t>New explicit endpoints recommended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 (7 Identified)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Wrapper Pattern</a:t>
            </a:r>
          </a:p>
          <a:p>
            <a:pPr lvl="1">
              <a:defRPr sz="1600"/>
            </a:pPr>
            <a:r>
              <a:t>Simplified interface hiding complexity</a:t>
            </a:r>
          </a:p>
          <a:p>
            <a:pPr>
              <a:defRPr sz="1800"/>
            </a:pPr>
            <a:r>
              <a:t>2. Provider Strategy Pattern</a:t>
            </a:r>
          </a:p>
          <a:p>
            <a:pPr lvl="1">
              <a:defRPr sz="1600"/>
            </a:pPr>
            <a:r>
              <a:t>DTCC vs OSM provider selection</a:t>
            </a:r>
          </a:p>
          <a:p>
            <a:pPr>
              <a:defRPr sz="1800"/>
            </a:pPr>
            <a:r>
              <a:t>3. Cache-Aside Pattern</a:t>
            </a:r>
          </a:p>
          <a:p>
            <a:pPr lvl="1">
              <a:defRPr sz="1600"/>
            </a:pPr>
            <a:r>
              <a:t>Check cache first, populate on miss</a:t>
            </a:r>
          </a:p>
          <a:p>
            <a:pPr>
              <a:defRPr sz="1800"/>
            </a:pPr>
            <a:r>
              <a:t>4. Async/Await for I/O</a:t>
            </a:r>
          </a:p>
          <a:p>
            <a:pPr lvl="1">
              <a:defRPr sz="1600"/>
            </a:pPr>
            <a:r>
              <a:t>Non-blocking downloads</a:t>
            </a:r>
          </a:p>
          <a:p>
            <a:pPr>
              <a:defRPr sz="1800"/>
            </a:pPr>
            <a:r>
              <a:t>5. Factory Pattern</a:t>
            </a:r>
          </a:p>
          <a:p>
            <a:pPr lvl="1">
              <a:defRPr sz="1600"/>
            </a:pPr>
            <a:r>
              <a:t>download_data() creates appropriate objects</a:t>
            </a:r>
          </a:p>
          <a:p>
            <a:pPr>
              <a:defRPr sz="1800"/>
            </a:pPr>
            <a:r>
              <a:t>6. Middleware Pattern</a:t>
            </a:r>
          </a:p>
          <a:p>
            <a:pPr lvl="1">
              <a:defRPr sz="1600"/>
            </a:pPr>
            <a:r>
              <a:t>Rate limiting, authentication middleware</a:t>
            </a:r>
          </a:p>
          <a:p>
            <a:pPr>
              <a:defRPr sz="1800"/>
            </a:pPr>
            <a:r>
              <a:t>7. Singleton Pattern (Implicit)</a:t>
            </a:r>
          </a:p>
          <a:p>
            <a:pPr lvl="1">
              <a:defRPr sz="1600"/>
            </a:pPr>
            <a:r>
              <a:t>Session caching, cache directory setup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Superset Bounding Box Caching</a:t>
            </a:r>
          </a:p>
          <a:p>
            <a:pPr lvl="1">
              <a:defRPr sz="1600"/>
            </a:pPr>
            <a:r>
              <a:t>O(1) bbox containment check</a:t>
            </a:r>
          </a:p>
          <a:p>
            <a:pPr lvl="1">
              <a:defRPr sz="1600"/>
            </a:pPr>
            <a:r>
              <a:t>80% reduction in API calls</a:t>
            </a:r>
          </a:p>
          <a:p>
            <a:pPr>
              <a:defRPr sz="1800"/>
            </a:pPr>
            <a:r>
              <a:t>2. Spatial Tile Intersection</a:t>
            </a:r>
          </a:p>
          <a:p>
            <a:pPr lvl="1">
              <a:defRPr sz="1600"/>
            </a:pPr>
            <a:r>
              <a:t>O(1) separating axis test</a:t>
            </a:r>
          </a:p>
          <a:p>
            <a:pPr lvl="1">
              <a:defRPr sz="1600"/>
            </a:pPr>
            <a:r>
              <a:t>Filters thousands of tiles in milliseconds</a:t>
            </a:r>
          </a:p>
          <a:p>
            <a:pPr>
              <a:defRPr sz="1800"/>
            </a:pPr>
            <a:r>
              <a:t>3. Async File Download with Semaphores</a:t>
            </a:r>
          </a:p>
          <a:p>
            <a:pPr lvl="1">
              <a:defRPr sz="1600"/>
            </a:pPr>
            <a:r>
              <a:t>Downloads 100+ files concurrently</a:t>
            </a:r>
          </a:p>
          <a:p>
            <a:pPr lvl="1">
              <a:defRPr sz="1600"/>
            </a:pPr>
            <a:r>
              <a:t>10-20x performance improvement</a:t>
            </a:r>
          </a:p>
          <a:p>
            <a:pPr>
              <a:defRPr sz="1800"/>
            </a:pPr>
            <a:r>
              <a:t>4. Parallel Bounds Computation</a:t>
            </a:r>
          </a:p>
          <a:p>
            <a:pPr lvl="1">
              <a:defRPr sz="1600"/>
            </a:pPr>
            <a:r>
              <a:t>ThreadPoolExecutor for atlas creation</a:t>
            </a:r>
          </a:p>
          <a:p>
            <a:pPr lvl="1">
              <a:defRPr sz="1600"/>
            </a:pPr>
            <a:r>
              <a:t>10-20x faster than sequential</a:t>
            </a:r>
          </a:p>
          <a:p>
            <a:pPr>
              <a:defRPr sz="1800"/>
            </a:pPr>
            <a:r>
              <a:t>Algorithm Efficiency</a:t>
            </a:r>
          </a:p>
          <a:p>
            <a:pPr lvl="1">
              <a:defRPr sz="1600"/>
            </a:pPr>
            <a:r>
              <a:t>All spatial operations O(1) or O(n)</a:t>
            </a:r>
          </a:p>
          <a:p>
            <a:pPr lvl="1">
              <a:defRPr sz="1600"/>
            </a:pPr>
            <a:r>
              <a:t>No quadratic complexity</a:t>
            </a:r>
          </a:p>
          <a:p>
            <a:pPr lvl="1">
              <a:defRPr sz="1600"/>
            </a:pPr>
            <a:r>
              <a:t>Optimized for large datasets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DTCC Data vs Core vs Main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3250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dtcc-data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dtcc-core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dtcc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Lines of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257,136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5,739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Repository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700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 MB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964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 months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Contributors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Pure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Python/C++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Primary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Vasilis (75%)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Dag (49%)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Anders (33%)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 interface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DTCC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Depends on dtcc-core</a:t>
            </a:r>
          </a:p>
          <a:p>
            <a:pPr lvl="1">
              <a:defRPr sz="1600"/>
            </a:pPr>
            <a:r>
              <a:t>Uses Bounds class from dtcc_core.model</a:t>
            </a:r>
          </a:p>
          <a:p>
            <a:pPr lvl="1">
              <a:defRPr sz="1600"/>
            </a:pPr>
            <a:r>
              <a:t>Leverages dtcc_core.io for data conversion:</a:t>
            </a:r>
          </a:p>
          <a:p>
            <a:pPr lvl="2">
              <a:defRPr sz="1600"/>
            </a:pPr>
            <a:r>
              <a:t>load_pointcloud() - .laz to PointCloud</a:t>
            </a:r>
          </a:p>
          <a:p>
            <a:pPr lvl="2">
              <a:defRPr sz="1600"/>
            </a:pPr>
            <a:r>
              <a:t>load_footprints() - GPKG to Footprints</a:t>
            </a:r>
          </a:p>
          <a:p>
            <a:pPr lvl="2">
              <a:defRPr sz="1600"/>
            </a:pPr>
            <a:r>
              <a:t>load_roadnetwork() - GPKG to RoadNetwork</a:t>
            </a:r>
          </a:p>
          <a:p>
            <a:pPr lvl="1">
              <a:defRPr sz="1600"/>
            </a:pPr>
            <a:r>
              <a:t>Uses dtcc_core.common logging system</a:t>
            </a:r>
          </a:p>
          <a:p>
            <a:pPr>
              <a:defRPr sz="1800"/>
            </a:pPr>
            <a:r>
              <a:t>Position in Pipeline</a:t>
            </a:r>
          </a:p>
          <a:p>
            <a:pPr lvl="1">
              <a:defRPr sz="1600"/>
            </a:pPr>
            <a:r>
              <a:t>Early stage: Data ingestion layer</a:t>
            </a:r>
          </a:p>
          <a:p>
            <a:pPr lvl="1">
              <a:defRPr sz="1600"/>
            </a:pPr>
            <a:r>
              <a:t>Called by dtcc workflows needing geospatial data</a:t>
            </a:r>
          </a:p>
          <a:p>
            <a:pPr>
              <a:defRPr sz="1800"/>
            </a:pPr>
            <a:r>
              <a:t>Version Coordination</a:t>
            </a:r>
          </a:p>
          <a:p>
            <a:pPr lvl="1">
              <a:defRPr sz="1600"/>
            </a:pPr>
            <a:r>
              <a:t>Depends on develop branch of dtcc-core</a:t>
            </a:r>
          </a:p>
          <a:p>
            <a:pPr lvl="1">
              <a:defRPr sz="1600"/>
            </a:pPr>
            <a:r>
              <a:t>Version 0.9.2dev (aligned with platform)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&amp; Atlas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Folium Interactive Maps</a:t>
            </a:r>
          </a:p>
          <a:p>
            <a:pPr lvl="1">
              <a:defRPr sz="1600"/>
            </a:pPr>
            <a:r>
              <a:t>Shows user bounding boxes</a:t>
            </a:r>
          </a:p>
          <a:p>
            <a:pPr lvl="1">
              <a:defRPr sz="1600"/>
            </a:pPr>
            <a:r>
              <a:t>Displays tile coverage</a:t>
            </a:r>
          </a:p>
          <a:p>
            <a:pPr lvl="1">
              <a:defRPr sz="1600"/>
            </a:pPr>
            <a:r>
              <a:t>Coordinate transformations (EPSG:3006 → 4326)</a:t>
            </a:r>
          </a:p>
          <a:p>
            <a:pPr lvl="1">
              <a:defRPr sz="1600"/>
            </a:pPr>
            <a:r>
              <a:t>Toggleable layers</a:t>
            </a:r>
          </a:p>
          <a:p>
            <a:pPr lvl="1">
              <a:defRPr sz="1600"/>
            </a:pPr>
            <a:r>
              <a:t>Output: Interactive HTML maps</a:t>
            </a:r>
          </a:p>
          <a:p>
            <a:pPr>
              <a:defRPr sz="1800"/>
            </a:pPr>
            <a:r>
              <a:t>Atlas Creation Tools</a:t>
            </a:r>
          </a:p>
          <a:p>
            <a:pPr lvl="1">
              <a:defRPr sz="1600"/>
            </a:pPr>
            <a:r>
              <a:t>create-atlas-gpkg.py (347 lines)</a:t>
            </a:r>
          </a:p>
          <a:p>
            <a:pPr lvl="1">
              <a:defRPr sz="1600"/>
            </a:pPr>
            <a:r>
              <a:t>create-atlas-lidar.py (314 lines)</a:t>
            </a:r>
          </a:p>
          <a:p>
            <a:pPr lvl="1">
              <a:defRPr sz="1600"/>
            </a:pPr>
            <a:r>
              <a:t>Spatial indexing with JSON atlases</a:t>
            </a:r>
          </a:p>
          <a:p>
            <a:pPr lvl="1">
              <a:defRPr sz="1600"/>
            </a:pPr>
            <a:r>
              <a:t>Parallel bounds computation</a:t>
            </a:r>
          </a:p>
          <a:p>
            <a:pPr lvl="1">
              <a:defRPr sz="1600"/>
            </a:pPr>
            <a:r>
              <a:t>Enables efficient tile lookup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Implemented Features</a:t>
            </a:r>
          </a:p>
          <a:p>
            <a:pPr lvl="1">
              <a:defRPr sz="1600"/>
            </a:pPr>
            <a:r>
              <a:t>Path traversal prevention (safe_join)</a:t>
            </a:r>
          </a:p>
          <a:p>
            <a:pPr lvl="1">
              <a:defRPr sz="1600"/>
            </a:pPr>
            <a:r>
              <a:t>Bearer token authentication with TTL</a:t>
            </a:r>
          </a:p>
          <a:p>
            <a:pPr lvl="1">
              <a:defRPr sz="1600"/>
            </a:pPr>
            <a:r>
              <a:t>GitHub OAuth integration</a:t>
            </a:r>
          </a:p>
          <a:p>
            <a:pPr lvl="1">
              <a:defRPr sz="1600"/>
            </a:pPr>
            <a:r>
              <a:t>Rate limiting (per-client and global)</a:t>
            </a:r>
          </a:p>
          <a:p>
            <a:pPr lvl="1">
              <a:defRPr sz="1600"/>
            </a:pPr>
            <a:r>
              <a:t>Pydantic input validation</a:t>
            </a:r>
          </a:p>
          <a:p>
            <a:pPr lvl="1">
              <a:defRPr sz="1600"/>
            </a:pPr>
            <a:r>
              <a:t>Access request throttling (IP and email)</a:t>
            </a:r>
          </a:p>
          <a:p>
            <a:pPr>
              <a:defRPr sz="1800"/>
            </a:pPr>
            <a:r>
              <a:t>Security Gaps (For Improvement)</a:t>
            </a:r>
          </a:p>
          <a:p>
            <a:pPr lvl="1">
              <a:defRPr sz="1600"/>
            </a:pPr>
            <a:r>
              <a:t>No encryption for cached data</a:t>
            </a:r>
          </a:p>
          <a:p>
            <a:pPr lvl="1">
              <a:defRPr sz="1600"/>
            </a:pPr>
            <a:r>
              <a:t>GitHub tokens in environment (use secrets manager)</a:t>
            </a:r>
          </a:p>
          <a:p>
            <a:pPr lvl="1">
              <a:defRPr sz="1600"/>
            </a:pPr>
            <a:r>
              <a:t>No audit logging for data access</a:t>
            </a:r>
          </a:p>
          <a:p>
            <a:pPr lvl="1">
              <a:defRPr sz="1600"/>
            </a:pPr>
            <a:r>
              <a:t>Limited HTTPS enforcement</a:t>
            </a:r>
          </a:p>
          <a:p>
            <a:pPr>
              <a:defRPr sz="1800"/>
            </a:pPr>
            <a:r>
              <a:t>Recommendations</a:t>
            </a:r>
          </a:p>
          <a:p>
            <a:pPr lvl="1">
              <a:defRPr sz="1600"/>
            </a:pPr>
            <a:r>
              <a:t>Implement cache encryption</a:t>
            </a:r>
          </a:p>
          <a:p>
            <a:pPr lvl="1">
              <a:defRPr sz="1600"/>
            </a:pPr>
            <a:r>
              <a:t>Add audit logging</a:t>
            </a:r>
          </a:p>
          <a:p>
            <a:pPr lvl="1">
              <a:defRPr sz="1600"/>
            </a:pPr>
            <a:r>
              <a:t>Use secrets manager for tokens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Statistics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261257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Repository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~9 months (Dec 2024 - Sep 2025)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Commits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154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Contributors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3,440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247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Repository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700 KB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 Contributor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Vasilis Naserentin (74.7%)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Most Active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February 2025 (86 commits)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Current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0.9.2dev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Exported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Server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26125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(DTCC, OSM)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Key Strengths</a:t>
            </a:r>
          </a:p>
          <a:p>
            <a:pPr lvl="1">
              <a:defRPr sz="1600"/>
            </a:pPr>
            <a:r>
              <a:t>Clean, simple API (5 exported functions)</a:t>
            </a:r>
          </a:p>
          <a:p>
            <a:pPr lvl="1">
              <a:defRPr sz="1600"/>
            </a:pPr>
            <a:r>
              <a:t>Revolutionary superset-based caching (80% reduction)</a:t>
            </a:r>
          </a:p>
          <a:p>
            <a:pPr lvl="1">
              <a:defRPr sz="1600"/>
            </a:pPr>
            <a:r>
              <a:t>Production-ready server with GitHub OAuth</a:t>
            </a:r>
          </a:p>
          <a:p>
            <a:pPr lvl="1">
              <a:defRPr sz="1600"/>
            </a:pPr>
            <a:r>
              <a:t>Async downloads (10-20x performance)</a:t>
            </a:r>
          </a:p>
          <a:p>
            <a:pPr lvl="1">
              <a:defRPr sz="1600"/>
            </a:pPr>
            <a:r>
              <a:t>Multi-source support (DTCC + OSM)</a:t>
            </a:r>
          </a:p>
          <a:p>
            <a:pPr lvl="1">
              <a:defRPr sz="1600"/>
            </a:pPr>
            <a:r>
              <a:t>Comprehensive deployment guide (418 lines)</a:t>
            </a:r>
          </a:p>
          <a:p>
            <a:pPr>
              <a:defRPr sz="1800"/>
            </a:pPr>
            <a:r>
              <a:t>Improvement Opportunities</a:t>
            </a:r>
          </a:p>
          <a:p>
            <a:pPr lvl="1">
              <a:defRPr sz="1600"/>
            </a:pPr>
            <a:r>
              <a:t>Test coverage: 7.2% → target 50%+</a:t>
            </a:r>
          </a:p>
          <a:p>
            <a:pPr lvl="1">
              <a:defRPr sz="1600"/>
            </a:pPr>
            <a:r>
              <a:t>API reference documentation missing</a:t>
            </a:r>
          </a:p>
          <a:p>
            <a:pPr lvl="1">
              <a:defRPr sz="1600"/>
            </a:pPr>
            <a:r>
              <a:t>Server refactoring: 705 lines → modular</a:t>
            </a:r>
          </a:p>
          <a:p>
            <a:pPr lvl="1">
              <a:defRPr sz="1600"/>
            </a:pPr>
            <a:r>
              <a:t>Template docs need customization</a:t>
            </a:r>
          </a:p>
          <a:p>
            <a:pPr lvl="1">
              <a:defRPr sz="1600"/>
            </a:pPr>
            <a:r>
              <a:t>Increase docstring coverage</a:t>
            </a:r>
          </a:p>
          <a:p>
            <a:pPr>
              <a:defRPr sz="1800"/>
            </a:pPr>
            <a:r>
              <a:t>Status</a:t>
            </a:r>
          </a:p>
          <a:p>
            <a:pPr lvl="1">
              <a:defRPr sz="1600"/>
            </a:pPr>
            <a:r>
              <a:t>Production-ready despite being youngest package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Development Insights</a:t>
            </a:r>
          </a:p>
          <a:p>
            <a:pPr lvl="1">
              <a:defRPr sz="1600"/>
            </a:pPr>
            <a:r>
              <a:t>Single developer dominated (Vasilis: 75%)</a:t>
            </a:r>
          </a:p>
          <a:p>
            <a:pPr lvl="1">
              <a:defRPr sz="1600"/>
            </a:pPr>
            <a:r>
              <a:t>Rapid initial development (86 commits in Feb 2025)</a:t>
            </a:r>
          </a:p>
          <a:p>
            <a:pPr lvl="1">
              <a:defRPr sz="1600"/>
            </a:pPr>
            <a:r>
              <a:t>Development pause (Apr-Jul), resumed Sep 2025</a:t>
            </a:r>
          </a:p>
          <a:p>
            <a:pPr>
              <a:defRPr sz="1800"/>
            </a:pPr>
            <a:r>
              <a:t>Technical Highlights</a:t>
            </a:r>
          </a:p>
          <a:p>
            <a:pPr lvl="1">
              <a:defRPr sz="1600"/>
            </a:pPr>
            <a:r>
              <a:t>Pure Python (unlike C++ dtcc-core)</a:t>
            </a:r>
          </a:p>
          <a:p>
            <a:pPr lvl="1">
              <a:defRPr sz="1600"/>
            </a:pPr>
            <a:r>
              <a:t>Smallest package (700 KB) but critical</a:t>
            </a:r>
          </a:p>
          <a:p>
            <a:pPr lvl="1">
              <a:defRPr sz="1600"/>
            </a:pPr>
            <a:r>
              <a:t>Superset caching is innovative optimization</a:t>
            </a:r>
          </a:p>
          <a:p>
            <a:pPr lvl="1">
              <a:defRPr sz="1600"/>
            </a:pPr>
            <a:r>
              <a:t>Production server infrastructure demonstrates maturity</a:t>
            </a:r>
          </a:p>
          <a:p>
            <a:pPr>
              <a:defRPr sz="1800"/>
            </a:pPr>
            <a:r>
              <a:t>Role in DTCC Platform</a:t>
            </a:r>
          </a:p>
          <a:p>
            <a:pPr lvl="1">
              <a:defRPr sz="1600"/>
            </a:pPr>
            <a:r>
              <a:t>Data ingestion layer - first step in pipeline</a:t>
            </a:r>
          </a:p>
          <a:p>
            <a:pPr lvl="1">
              <a:defRPr sz="1600"/>
            </a:pPr>
            <a:r>
              <a:t>Enables workflows by providing geospatial data</a:t>
            </a:r>
          </a:p>
          <a:p>
            <a:pPr lvl="1">
              <a:defRPr sz="1600"/>
            </a:pPr>
            <a:r>
              <a:t>Separates concerns: acquisition vs processing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DTCC Data is a focused, well-designed package</a:t>
            </a:r>
          </a:p>
          <a:p>
            <a:pPr>
              <a:defRPr sz="1800"/>
            </a:pPr>
            <a:r>
              <a:t>Innovative Features:</a:t>
            </a:r>
          </a:p>
          <a:p>
            <a:pPr lvl="1">
              <a:defRPr sz="1600"/>
            </a:pPr>
            <a:r>
              <a:t>Superset-based caching (80% bandwidth savings)</a:t>
            </a:r>
          </a:p>
          <a:p>
            <a:pPr lvl="1">
              <a:defRPr sz="1600"/>
            </a:pPr>
            <a:r>
              <a:t>Async downloads (10-20x faster)</a:t>
            </a:r>
          </a:p>
          <a:p>
            <a:pPr lvl="1">
              <a:defRPr sz="1600"/>
            </a:pPr>
            <a:r>
              <a:t>Multi-source support (DTCC + OSM)</a:t>
            </a:r>
          </a:p>
          <a:p>
            <a:pPr>
              <a:defRPr sz="1800"/>
            </a:pPr>
            <a:r>
              <a:t>Production Ready:</a:t>
            </a:r>
          </a:p>
          <a:p>
            <a:pPr lvl="1">
              <a:defRPr sz="1600"/>
            </a:pPr>
            <a:r>
              <a:t>FastAPI server with GitHub OAuth</a:t>
            </a:r>
          </a:p>
          <a:p>
            <a:pPr lvl="1">
              <a:defRPr sz="1600"/>
            </a:pPr>
            <a:r>
              <a:t>Rate limiting and security</a:t>
            </a:r>
          </a:p>
          <a:p>
            <a:pPr lvl="1">
              <a:defRPr sz="1600"/>
            </a:pPr>
            <a:r>
              <a:t>Comprehensive deployment guide</a:t>
            </a:r>
          </a:p>
          <a:p>
            <a:pPr>
              <a:defRPr sz="1800"/>
            </a:pPr>
            <a:r>
              <a:t>Critical Infrastructure:</a:t>
            </a:r>
          </a:p>
          <a:p>
            <a:pPr lvl="1">
              <a:defRPr sz="1600"/>
            </a:pPr>
            <a:r>
              <a:t>Despite being smallest/youngest package</a:t>
            </a:r>
          </a:p>
          <a:p>
            <a:pPr lvl="1">
              <a:defRPr sz="1600"/>
            </a:pPr>
            <a:r>
              <a:t>Essential data acquisition layer</a:t>
            </a:r>
          </a:p>
          <a:p>
            <a:pPr lvl="1">
              <a:defRPr sz="1600"/>
            </a:pPr>
            <a:r>
              <a:t>Enables all DTCC workflows</a:t>
            </a:r>
          </a:p>
          <a:p>
            <a:pPr>
              <a:defRPr sz="1800"/>
            </a:pPr>
            <a:r>
              <a:t>Active maintenance and future development</a:t>
            </a:r>
          </a:p>
          <a:p>
            <a:pPr>
              <a:defRPr sz="1800"/>
            </a:pPr>
            <a:r>
              <a:t>MIT License enables broad adoption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