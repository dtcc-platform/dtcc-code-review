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459</c:v>
                </c:pt>
                <c:pt idx="1">
                  <c:v>211</c:v>
                </c:pt>
                <c:pt idx="2">
                  <c:v>294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Feb 2025</c:v>
                </c:pt>
                <c:pt idx="1">
                  <c:v>Aug 2023</c:v>
                </c:pt>
                <c:pt idx="2">
                  <c:v>Sep 2023</c:v>
                </c:pt>
                <c:pt idx="3">
                  <c:v>Dec 2024</c:v>
                </c:pt>
                <c:pt idx="4">
                  <c:v>May 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193</c:v>
                </c:pt>
                <c:pt idx="1">
                  <c:v>174</c:v>
                </c:pt>
                <c:pt idx="2">
                  <c:v>104</c:v>
                </c:pt>
                <c:pt idx="3">
                  <c:v>48</c:v>
                </c:pt>
                <c:pt idx="4">
                  <c:v>52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Update</c:v>
                </c:pt>
                <c:pt idx="1">
                  <c:v>Add</c:v>
                </c:pt>
                <c:pt idx="2">
                  <c:v>Fix</c:v>
                </c:pt>
                <c:pt idx="3">
                  <c:v>Merge</c:v>
                </c:pt>
                <c:pt idx="4">
                  <c:v>Remove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139</c:v>
                </c:pt>
                <c:pt idx="2">
                  <c:v>107</c:v>
                </c:pt>
                <c:pt idx="3">
                  <c:v>79</c:v>
                </c:pt>
                <c:pt idx="4">
                  <c:v>27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Anders Logg</c:v>
                </c:pt>
                <c:pt idx="1">
                  <c:v>Vasilis Naserentin</c:v>
                </c:pt>
                <c:pt idx="2">
                  <c:v>Dag Wästberg</c:v>
                </c:pt>
                <c:pt idx="3">
                  <c:v>George Spaias</c:v>
                </c:pt>
                <c:pt idx="4">
                  <c:v>Sanjay Somanath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317</c:v>
                </c:pt>
                <c:pt idx="1">
                  <c:v>295</c:v>
                </c:pt>
                <c:pt idx="2">
                  <c:v>176</c:v>
                </c:pt>
                <c:pt idx="3">
                  <c:v>67</c:v>
                </c:pt>
                <c:pt idx="4">
                  <c:v>63</c:v>
                </c:pt>
                <c:pt idx="5">
                  <c:v>46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chalmers.se</c:v>
                </c:pt>
                <c:pt idx="1">
                  <c:v>GitHub users</c:v>
                </c:pt>
                <c:pt idx="2">
                  <c:v>gmail.com</c:v>
                </c:pt>
                <c:pt idx="3">
                  <c:v>Industry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344</c:v>
                </c:pt>
                <c:pt idx="1">
                  <c:v>335</c:v>
                </c:pt>
                <c:pt idx="2">
                  <c:v>263</c:v>
                </c:pt>
                <c:pt idx="3">
                  <c:v>17</c:v>
                </c:pt>
                <c:pt idx="4">
                  <c:v>5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Functions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I/O</c:v>
                </c:pt>
                <c:pt idx="1">
                  <c:v>Builder</c:v>
                </c:pt>
                <c:pt idx="2">
                  <c:v>Point Cloud</c:v>
                </c:pt>
                <c:pt idx="3">
                  <c:v>Raster</c:v>
                </c:pt>
                <c:pt idx="4">
                  <c:v>Mesh</c:v>
                </c:pt>
                <c:pt idx="5">
                  <c:v>Polygon</c:v>
                </c:pt>
                <c:pt idx="6">
                  <c:v>Viewer</c:v>
                </c:pt>
                <c:pt idx="7">
                  <c:v>Other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13</c:v>
                </c:pt>
                <c:pt idx="2">
                  <c:v>14</c:v>
                </c:pt>
                <c:pt idx="3">
                  <c:v>14</c:v>
                </c:pt>
                <c:pt idx="4">
                  <c:v>12</c:v>
                </c:pt>
                <c:pt idx="5">
                  <c:v>14</c:v>
                </c:pt>
                <c:pt idx="6">
                  <c:v>16</c:v>
                </c:pt>
                <c:pt idx="7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DTCC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Repository Analysis</a:t>
            </a:r>
          </a:p>
          <a:p>
            <a:r>
              <a:t>Digital Twin Cities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Meta-package for digital twinning of cities</a:t>
            </a:r>
          </a:p>
          <a:p>
            <a:pPr>
              <a:defRPr sz="1800"/>
            </a:pPr>
            <a:r>
              <a:t>Developed at Chalmers University of Technology</a:t>
            </a:r>
          </a:p>
          <a:p>
            <a:pPr>
              <a:defRPr sz="1800"/>
            </a:pPr>
            <a:r>
              <a:t>Active development since February 2023</a:t>
            </a:r>
          </a:p>
          <a:p>
            <a:pPr>
              <a:defRPr sz="1800"/>
            </a:pPr>
            <a:r>
              <a:t>964 commits across 17 contributors</a:t>
            </a:r>
          </a:p>
          <a:p>
            <a:pPr>
              <a:defRPr sz="1800"/>
            </a:pPr>
            <a:r>
              <a:t>Current version: 0.9.2dev</a:t>
            </a:r>
          </a:p>
          <a:p>
            <a:pPr>
              <a:defRPr sz="1800"/>
            </a:pPr>
            <a:r>
              <a:t>MIT License, open-source platform</a:t>
            </a:r>
          </a:p>
          <a:p>
            <a:pPr>
              <a:defRPr sz="1800"/>
            </a:pPr>
            <a:r>
              <a:t>Repository: github.com/dtcc-platform/dtcc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Size and Structure</a:t>
            </a:r>
          </a:p>
          <a:p>
            <a:pPr lvl="1">
              <a:defRPr sz="1600"/>
            </a:pPr>
            <a:r>
              <a:t>Total repository size: 72 MB</a:t>
            </a:r>
          </a:p>
          <a:p>
            <a:pPr lvl="1">
              <a:defRPr sz="1600"/>
            </a:pPr>
            <a:r>
              <a:t>122 tracked files</a:t>
            </a:r>
          </a:p>
          <a:p>
            <a:pPr lvl="1">
              <a:defRPr sz="1600"/>
            </a:pPr>
            <a:r>
              <a:t>60,119 total lines of code</a:t>
            </a:r>
          </a:p>
          <a:p>
            <a:pPr>
              <a:defRPr sz="1800"/>
            </a:pPr>
            <a:r>
              <a:t>Primary Languages</a:t>
            </a:r>
          </a:p>
          <a:p>
            <a:pPr lvl="1">
              <a:defRPr sz="1600"/>
            </a:pPr>
            <a:r>
              <a:t>Python: 53 files (5,739 lines)</a:t>
            </a:r>
          </a:p>
          <a:p>
            <a:pPr lvl="1">
              <a:defRPr sz="1600"/>
            </a:pPr>
            <a:r>
              <a:t>reStructuredText: 19 files (documentation)</a:t>
            </a:r>
          </a:p>
          <a:p>
            <a:pPr lvl="1">
              <a:defRPr sz="1600"/>
            </a:pPr>
            <a:r>
              <a:t>YAML: 7 files (CI/CD configuration)</a:t>
            </a:r>
          </a:p>
          <a:p>
            <a:pPr>
              <a:defRPr sz="1800"/>
            </a:pPr>
            <a:r>
              <a:t>Key Directories</a:t>
            </a:r>
          </a:p>
          <a:p>
            <a:pPr lvl="1">
              <a:defRPr sz="1600"/>
            </a:pPr>
            <a:r>
              <a:t>/docs: 12 MB (comprehensive documentation)</a:t>
            </a:r>
          </a:p>
          <a:p>
            <a:pPr lvl="1">
              <a:defRPr sz="1600"/>
            </a:pPr>
            <a:r>
              <a:t>/demos: 17 demonstration scripts</a:t>
            </a:r>
          </a:p>
          <a:p>
            <a:pPr lvl="1">
              <a:defRPr sz="1600"/>
            </a:pPr>
            <a:r>
              <a:t>/sandbox: 27 experimental Python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Commit Activity by Year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Active Months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Commit Type Breakdown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Contributors by Commits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Contributor Email Domains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Branching &amp; Release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Main Branches</a:t>
            </a:r>
          </a:p>
          <a:p>
            <a:pPr lvl="1">
              <a:defRPr sz="1600"/>
            </a:pPr>
            <a:r>
              <a:t>main: Release branch</a:t>
            </a:r>
          </a:p>
          <a:p>
            <a:pPr lvl="1">
              <a:defRPr sz="1600"/>
            </a:pPr>
            <a:r>
              <a:t>develop: Development branch (current)</a:t>
            </a:r>
          </a:p>
          <a:p>
            <a:pPr>
              <a:defRPr sz="1800"/>
            </a:pPr>
            <a:r>
              <a:t>Development Branches</a:t>
            </a:r>
          </a:p>
          <a:p>
            <a:pPr lvl="1">
              <a:defRPr sz="1600"/>
            </a:pPr>
            <a:r>
              <a:t>dev/dtcc-core, dev/iboflow, dev/lod2</a:t>
            </a:r>
          </a:p>
          <a:p>
            <a:pPr lvl="1">
              <a:defRPr sz="1600"/>
            </a:pPr>
            <a:r>
              <a:t>dev/new-volume-mesh-builder-testing</a:t>
            </a:r>
          </a:p>
          <a:p>
            <a:pPr lvl="1">
              <a:defRPr sz="1600"/>
            </a:pPr>
            <a:r>
              <a:t>city_surface_mesh, dem-demo</a:t>
            </a:r>
          </a:p>
          <a:p>
            <a:pPr>
              <a:defRPr sz="1800"/>
            </a:pPr>
            <a:r>
              <a:t>Releases</a:t>
            </a:r>
          </a:p>
          <a:p>
            <a:pPr lvl="1">
              <a:defRPr sz="1600"/>
            </a:pPr>
            <a:r>
              <a:t>v0.9.2dev (current)</a:t>
            </a:r>
          </a:p>
          <a:p>
            <a:pPr lvl="1">
              <a:defRPr sz="1600"/>
            </a:pPr>
            <a:r>
              <a:t>v0.9.2, v0.9.1dev, v0.9.1</a:t>
            </a:r>
          </a:p>
          <a:p>
            <a:pPr lvl="1">
              <a:defRPr sz="1600"/>
            </a:pPr>
            <a:r>
              <a:t>Semantic versioning, approaching 1.0.0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GitHub Actions Workflows</a:t>
            </a:r>
          </a:p>
          <a:p>
            <a:pPr lvl="1">
              <a:defRPr sz="1600"/>
            </a:pPr>
            <a:r>
              <a:t>ci-build-tests.yml: Ubuntu, Python 3.11, Slack notifications</a:t>
            </a:r>
          </a:p>
          <a:p>
            <a:pPr lvl="1">
              <a:defRPr sz="1600"/>
            </a:pPr>
            <a:r>
              <a:t>ci-demos.yml: Multi-OS (Ubuntu, macOS, Windows), Python 3.11 &amp; 3.12</a:t>
            </a:r>
          </a:p>
          <a:p>
            <a:pPr lvl="1">
              <a:defRPr sz="1600"/>
            </a:pPr>
            <a:r>
              <a:t>ci-docs.yml: Documentation building and deployment</a:t>
            </a:r>
          </a:p>
          <a:p>
            <a:pPr lvl="1">
              <a:defRPr sz="1600"/>
            </a:pPr>
            <a:r>
              <a:t>ci-wheels.yml: Wheel building for distribution</a:t>
            </a:r>
          </a:p>
          <a:p>
            <a:pPr lvl="1">
              <a:defRPr sz="1600"/>
            </a:pPr>
            <a:r>
              <a:t>dtcc-data-hourly.yml: Hourly automated testing</a:t>
            </a:r>
          </a:p>
          <a:p>
            <a:pPr>
              <a:defRPr sz="1800"/>
            </a:pPr>
            <a:r>
              <a:t>Quality Practices</a:t>
            </a:r>
          </a:p>
          <a:p>
            <a:pPr lvl="1">
              <a:defRPr sz="1600"/>
            </a:pPr>
            <a:r>
              <a:t>Multi-OS and multi-Python version testing</a:t>
            </a:r>
          </a:p>
          <a:p>
            <a:pPr lvl="1">
              <a:defRPr sz="1600"/>
            </a:pPr>
            <a:r>
              <a:t>Automated integration tests via demos</a:t>
            </a:r>
          </a:p>
          <a:p>
            <a:pPr lvl="1">
              <a:defRPr sz="1600"/>
            </a:pPr>
            <a:r>
              <a:t>Code formatting with Black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dtcc-core</a:t>
            </a:r>
          </a:p>
          <a:p>
            <a:pPr lvl="1">
              <a:defRPr sz="1600"/>
            </a:pPr>
            <a:r>
              <a:t>Core functionality (common, model, io, builder)</a:t>
            </a:r>
          </a:p>
          <a:p>
            <a:pPr lvl="1">
              <a:defRPr sz="1600"/>
            </a:pPr>
            <a:r>
              <a:t>Branch: develop, Direct Git dependency</a:t>
            </a:r>
          </a:p>
          <a:p>
            <a:pPr>
              <a:defRPr sz="1800"/>
            </a:pPr>
            <a:r>
              <a:t>dtcc-viewer (Optional)</a:t>
            </a:r>
          </a:p>
          <a:p>
            <a:pPr lvl="1">
              <a:defRPr sz="1600"/>
            </a:pPr>
            <a:r>
              <a:t>Visualization capabilities</a:t>
            </a:r>
          </a:p>
          <a:p>
            <a:pPr lvl="1">
              <a:defRPr sz="1600"/>
            </a:pPr>
            <a:r>
              <a:t>Requires GLFW for graphical rendering</a:t>
            </a:r>
          </a:p>
          <a:p>
            <a:pPr lvl="1">
              <a:defRPr sz="1600"/>
            </a:pPr>
            <a:r>
              <a:t>Graceful degradation to headless mode</a:t>
            </a:r>
          </a:p>
          <a:p>
            <a:pPr>
              <a:defRPr sz="1800"/>
            </a:pPr>
            <a:r>
              <a:t>External Dependencies</a:t>
            </a:r>
          </a:p>
          <a:p>
            <a:pPr lvl="1">
              <a:defRPr sz="1600"/>
            </a:pPr>
            <a:r>
              <a:t>Python &gt;= 3.10</a:t>
            </a:r>
          </a:p>
          <a:p>
            <a:pPr lvl="1">
              <a:defRPr sz="1600"/>
            </a:pPr>
            <a:r>
              <a:t>tqdm &gt;= 4.67.1 (progress bars)</a:t>
            </a:r>
          </a:p>
          <a:p>
            <a:pPr lvl="1">
              <a:defRPr sz="1600"/>
            </a:pPr>
            <a:r>
              <a:t>pytest (testing), sphinx (documentation)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Meta-Package Design</a:t>
            </a:r>
          </a:p>
          <a:p>
            <a:pPr lvl="1">
              <a:defRPr sz="1600"/>
            </a:pPr>
            <a:r>
              <a:t>Unified interface to DTCC Platform</a:t>
            </a:r>
          </a:p>
          <a:p>
            <a:pPr lvl="1">
              <a:defRPr sz="1600"/>
            </a:pPr>
            <a:r>
              <a:t>Imports from dtcc-core submodules</a:t>
            </a:r>
          </a:p>
          <a:p>
            <a:pPr>
              <a:defRPr sz="1800"/>
            </a:pPr>
            <a:r>
              <a:t>Core Modules</a:t>
            </a:r>
          </a:p>
          <a:p>
            <a:pPr lvl="1">
              <a:defRPr sz="1600"/>
            </a:pPr>
            <a:r>
              <a:t>dtcc_core.common - Utilities and base classes</a:t>
            </a:r>
          </a:p>
          <a:p>
            <a:pPr lvl="1">
              <a:defRPr sz="1600"/>
            </a:pPr>
            <a:r>
              <a:t>dtcc_core.model - Data model classes</a:t>
            </a:r>
          </a:p>
          <a:p>
            <a:pPr lvl="1">
              <a:defRPr sz="1600"/>
            </a:pPr>
            <a:r>
              <a:t>dtcc_core.io - Input/output functions</a:t>
            </a:r>
          </a:p>
          <a:p>
            <a:pPr lvl="1">
              <a:defRPr sz="1600"/>
            </a:pPr>
            <a:r>
              <a:t>dtcc_core.builder - Geometry building functions</a:t>
            </a:r>
          </a:p>
          <a:p>
            <a:pPr>
              <a:defRPr sz="1800"/>
            </a:pPr>
            <a:r>
              <a:t>Features</a:t>
            </a:r>
          </a:p>
          <a:p>
            <a:pPr lvl="1">
              <a:defRPr sz="1600"/>
            </a:pPr>
            <a:r>
              <a:t>Custom logging functions</a:t>
            </a:r>
          </a:p>
          <a:p>
            <a:pPr lvl="1">
              <a:defRPr sz="1600"/>
            </a:pPr>
            <a:r>
              <a:t>Optional viewer support</a:t>
            </a:r>
          </a:p>
          <a:p>
            <a:pPr lvl="1">
              <a:defRPr sz="1600"/>
            </a:pPr>
            <a:r>
              <a:t>Type checking for IntelliSense/IDE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Model: Three-Tier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Objects (City Elements)</a:t>
            </a:r>
          </a:p>
          <a:p>
            <a:pPr lvl="1">
              <a:defRPr sz="1600"/>
            </a:pPr>
            <a:r>
              <a:t>City, Building, Terrain, RoadNetwork, Landuse</a:t>
            </a:r>
          </a:p>
          <a:p>
            <a:pPr lvl="1">
              <a:defRPr sz="1600"/>
            </a:pPr>
            <a:r>
              <a:t>Top-level containers with methods and properties</a:t>
            </a:r>
          </a:p>
          <a:p>
            <a:pPr>
              <a:defRPr sz="1800"/>
            </a:pPr>
            <a:r>
              <a:t>2. Geometries (Spatial Representations)</a:t>
            </a:r>
          </a:p>
          <a:p>
            <a:pPr lvl="1">
              <a:defRPr sz="1600"/>
            </a:pPr>
            <a:r>
              <a:t>2D: Grid, Polygon, LineString</a:t>
            </a:r>
          </a:p>
          <a:p>
            <a:pPr lvl="1">
              <a:defRPr sz="1600"/>
            </a:pPr>
            <a:r>
              <a:t>3D: Mesh, PointCloud, Surface, VolumeMesh</a:t>
            </a:r>
          </a:p>
          <a:p>
            <a:pPr lvl="1">
              <a:defRPr sz="1600"/>
            </a:pPr>
            <a:r>
              <a:t>All auto-calculate bounds, support Protobuf</a:t>
            </a:r>
          </a:p>
          <a:p>
            <a:pPr>
              <a:defRPr sz="1800"/>
            </a:pPr>
            <a:r>
              <a:t>3. Values (Associated Data)</a:t>
            </a:r>
          </a:p>
          <a:p>
            <a:pPr lvl="1">
              <a:defRPr sz="1600"/>
            </a:pPr>
            <a:r>
              <a:t>Field - Scalar/vector data on geometries</a:t>
            </a:r>
          </a:p>
          <a:p>
            <a:pPr lvl="1">
              <a:defRPr sz="1600"/>
            </a:pPr>
            <a:r>
              <a:t>Raster - Georeferenced grid data</a:t>
            </a:r>
          </a:p>
          <a:p>
            <a:pPr lvl="1">
              <a:defRPr sz="1600"/>
            </a:pPr>
            <a:r>
              <a:t>Used for terrain elevation, classifications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Classes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City - Top-level container</a:t>
            </a:r>
          </a:p>
          <a:p>
            <a:pPr lvl="1">
              <a:defRPr sz="1600"/>
            </a:pPr>
            <a:r>
              <a:t>Properties: buildings, terrain, pointcloud, bounds</a:t>
            </a:r>
          </a:p>
          <a:p>
            <a:pPr lvl="1">
              <a:defRPr sz="1600"/>
            </a:pPr>
            <a:r>
              <a:t>Methods: download_*(), build_*(), add_*(), save(), view()</a:t>
            </a:r>
          </a:p>
          <a:p>
            <a:pPr>
              <a:defRPr sz="1800"/>
            </a:pPr>
            <a:r>
              <a:t>Building - Individual building</a:t>
            </a:r>
          </a:p>
          <a:p>
            <a:pPr lvl="1">
              <a:defRPr sz="1600"/>
            </a:pPr>
            <a:r>
              <a:t>LOD0/1/2/3 geometries, height, attributes</a:t>
            </a:r>
          </a:p>
          <a:p>
            <a:pPr>
              <a:defRPr sz="1800"/>
            </a:pPr>
            <a:r>
              <a:t>PointCloud - 3D point collection</a:t>
            </a:r>
          </a:p>
          <a:p>
            <a:pPr lvl="1">
              <a:defRPr sz="1600"/>
            </a:pPr>
            <a:r>
              <a:t>Filtering, classification, rasterization</a:t>
            </a:r>
          </a:p>
          <a:p>
            <a:pPr>
              <a:defRPr sz="1800"/>
            </a:pPr>
            <a:r>
              <a:t>Mesh - Triangulated surface</a:t>
            </a:r>
          </a:p>
          <a:p>
            <a:pPr lvl="1">
              <a:defRPr sz="1600"/>
            </a:pPr>
            <a:r>
              <a:t>Tiling, extrusion, 3D printing support</a:t>
            </a:r>
          </a:p>
          <a:p>
            <a:pPr>
              <a:defRPr sz="1800"/>
            </a:pPr>
            <a:r>
              <a:t>Raster - Georeferenced grid</a:t>
            </a:r>
          </a:p>
          <a:p>
            <a:pPr lvl="1">
              <a:defRPr sz="1600"/>
            </a:pPr>
            <a:r>
              <a:t>Terrain elevation, analysis, resampling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Distribution by Category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Acquisition</a:t>
            </a:r>
          </a:p>
          <a:p>
            <a:pPr lvl="1">
              <a:defRPr sz="1600"/>
            </a:pPr>
            <a:r>
              <a:t>Download from DTCC servers and OpenStreetMap</a:t>
            </a:r>
          </a:p>
          <a:p>
            <a:pPr lvl="1">
              <a:defRPr sz="1600"/>
            </a:pPr>
            <a:r>
              <a:t>Point clouds, building footprints, road networks</a:t>
            </a:r>
          </a:p>
          <a:p>
            <a:pPr>
              <a:defRPr sz="1800"/>
            </a:pPr>
            <a:r>
              <a:t>Terrain Processing</a:t>
            </a:r>
          </a:p>
          <a:p>
            <a:pPr lvl="1">
              <a:defRPr sz="1600"/>
            </a:pPr>
            <a:r>
              <a:t>Raster generation, mesh creation, smoothing</a:t>
            </a:r>
          </a:p>
          <a:p>
            <a:pPr lvl="1">
              <a:defRPr sz="1600"/>
            </a:pPr>
            <a:r>
              <a:t>Conforming meshes with building boundaries</a:t>
            </a:r>
          </a:p>
          <a:p>
            <a:pPr>
              <a:defRPr sz="1800"/>
            </a:pPr>
            <a:r>
              <a:t>Building Processing</a:t>
            </a:r>
          </a:p>
          <a:p>
            <a:pPr lvl="1">
              <a:defRPr sz="1600"/>
            </a:pPr>
            <a:r>
              <a:t>Height computation, LOD1 generation, merging</a:t>
            </a:r>
          </a:p>
          <a:p>
            <a:pPr lvl="1">
              <a:defRPr sz="1600"/>
            </a:pPr>
            <a:r>
              <a:t>Footprint simplification and clearance fixing</a:t>
            </a:r>
          </a:p>
          <a:p>
            <a:pPr>
              <a:defRPr sz="1800"/>
            </a:pPr>
            <a:r>
              <a:t>City Mesh Generation</a:t>
            </a:r>
          </a:p>
          <a:p>
            <a:pPr lvl="1">
              <a:defRPr sz="1600"/>
            </a:pPr>
            <a:r>
              <a:t>Surface and volume meshes for visualization/simulation</a:t>
            </a:r>
          </a:p>
          <a:p>
            <a:pPr lvl="1">
              <a:defRPr sz="1600"/>
            </a:pPr>
            <a:r>
              <a:t>Tiling for 3D printing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File Formats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Input Formats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Output Formats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.las, .laz, .csv, .pb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.las, .laz, .csv, .pb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City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.cityjson, .pb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.cityjson, .pb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.obj, .ply, .stl, .vtk, .gltf, .glb, .fbx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.obj, .ply, .stl, .vtk, .gltf, .glb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Vector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.geojson, .shp, .gpkg, .pb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.geojson, .shp, .gpkg, .pb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Usage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Basic City Building</a:t>
            </a:r>
          </a:p>
          <a:p>
            <a:pPr lvl="1">
              <a:defRPr sz="1600"/>
            </a:pPr>
            <a:r>
              <a:t>Create City → Download data → Build terrain → Build buildings → View</a:t>
            </a:r>
          </a:p>
          <a:p>
            <a:pPr>
              <a:defRPr sz="1800"/>
            </a:pPr>
            <a:r>
              <a:t>2. Terrain Generation</a:t>
            </a:r>
          </a:p>
          <a:p>
            <a:pPr lvl="1">
              <a:defRPr sz="1600"/>
            </a:pPr>
            <a:r>
              <a:t>Download point cloud → Remove outliers → Rasterize → Mesh → View</a:t>
            </a:r>
          </a:p>
          <a:p>
            <a:pPr>
              <a:defRPr sz="1800"/>
            </a:pPr>
            <a:r>
              <a:t>3. CityJSON Import/Export</a:t>
            </a:r>
          </a:p>
          <a:p>
            <a:pPr lvl="1">
              <a:defRPr sz="1600"/>
            </a:pPr>
            <a:r>
              <a:t>Load CityJSON → Add attributes → Build meshes → Export</a:t>
            </a:r>
          </a:p>
          <a:p>
            <a:pPr>
              <a:defRPr sz="1800"/>
            </a:pPr>
            <a:r>
              <a:t>4. 3D Printing</a:t>
            </a:r>
          </a:p>
          <a:p>
            <a:pPr lvl="1">
              <a:defRPr sz="1600"/>
            </a:pPr>
            <a:r>
              <a:t>Build city mesh → Tile → Create printable solids → Export STL</a:t>
            </a:r>
          </a:p>
          <a:p>
            <a:pPr>
              <a:defRPr sz="1800"/>
            </a:pPr>
            <a:r>
              <a:t>5. Simulation Preparation</a:t>
            </a:r>
          </a:p>
          <a:p>
            <a:pPr lvl="1">
              <a:defRPr sz="1600"/>
            </a:pPr>
            <a:r>
              <a:t>Build city → Generate volume mesh → Export for CFD/FEM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Builder Pattern</a:t>
            </a:r>
          </a:p>
          <a:p>
            <a:pPr lvl="1">
              <a:defRPr sz="1600"/>
            </a:pPr>
            <a:r>
              <a:t>Separate builder module with build_* functions</a:t>
            </a:r>
          </a:p>
          <a:p>
            <a:pPr>
              <a:defRPr sz="1800"/>
            </a:pPr>
            <a:r>
              <a:t>2. Protobuf Serialization</a:t>
            </a:r>
          </a:p>
          <a:p>
            <a:pPr lvl="1">
              <a:defRPr sz="1600"/>
            </a:pPr>
            <a:r>
              <a:t>Efficient binary format, language-agnostic</a:t>
            </a:r>
          </a:p>
          <a:p>
            <a:pPr>
              <a:defRPr sz="1800"/>
            </a:pPr>
            <a:r>
              <a:t>3. Multiple LOD Representations</a:t>
            </a:r>
          </a:p>
          <a:p>
            <a:pPr lvl="1">
              <a:defRPr sz="1600"/>
            </a:pPr>
            <a:r>
              <a:t>LOD0: 2D footprint, LOD1: Extruded, LOD2: Detailed</a:t>
            </a:r>
          </a:p>
          <a:p>
            <a:pPr>
              <a:defRPr sz="1800"/>
            </a:pPr>
            <a:r>
              <a:t>4. Hierarchical Object Model</a:t>
            </a:r>
          </a:p>
          <a:p>
            <a:pPr lvl="1">
              <a:defRPr sz="1600"/>
            </a:pPr>
            <a:r>
              <a:t>Parent-child relationships, unique IDs</a:t>
            </a:r>
          </a:p>
          <a:p>
            <a:pPr>
              <a:defRPr sz="1800"/>
            </a:pPr>
            <a:r>
              <a:t>5. Fluent Interface</a:t>
            </a:r>
          </a:p>
          <a:p>
            <a:pPr lvl="1">
              <a:defRPr sz="1600"/>
            </a:pPr>
            <a:r>
              <a:t>Method chaining for City operations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Quality Practices</a:t>
            </a:r>
          </a:p>
          <a:p>
            <a:pPr lvl="1">
              <a:defRPr sz="1600"/>
            </a:pPr>
            <a:r>
              <a:t>CI/CD on multiple OSes and Python versions</a:t>
            </a:r>
          </a:p>
          <a:p>
            <a:pPr lvl="1">
              <a:defRPr sz="1600"/>
            </a:pPr>
            <a:r>
              <a:t>Automated testing via GitHub Actions</a:t>
            </a:r>
          </a:p>
          <a:p>
            <a:pPr lvl="1">
              <a:defRPr sz="1600"/>
            </a:pPr>
            <a:r>
              <a:t>Documentation-first approach</a:t>
            </a:r>
          </a:p>
          <a:p>
            <a:pPr lvl="1">
              <a:defRPr sz="1600"/>
            </a:pPr>
            <a:r>
              <a:t>Code formatting with Black</a:t>
            </a:r>
          </a:p>
          <a:p>
            <a:pPr>
              <a:defRPr sz="1800"/>
            </a:pPr>
            <a:r>
              <a:t>Development Workflow</a:t>
            </a:r>
          </a:p>
          <a:p>
            <a:pPr lvl="1">
              <a:defRPr sz="1600"/>
            </a:pPr>
            <a:r>
              <a:t>Feature branches (dev/*)</a:t>
            </a:r>
          </a:p>
          <a:p>
            <a:pPr lvl="1">
              <a:defRPr sz="1600"/>
            </a:pPr>
            <a:r>
              <a:t>Regular merges to develop</a:t>
            </a:r>
          </a:p>
          <a:p>
            <a:pPr lvl="1">
              <a:defRPr sz="1600"/>
            </a:pPr>
            <a:r>
              <a:t>Periodic releases with semantic versioning</a:t>
            </a:r>
          </a:p>
          <a:p>
            <a:pPr>
              <a:defRPr sz="1800"/>
            </a:pPr>
            <a:r>
              <a:t>Requirements</a:t>
            </a:r>
          </a:p>
          <a:p>
            <a:pPr lvl="1">
              <a:defRPr sz="1600"/>
            </a:pPr>
            <a:r>
              <a:t>Python 3.10+</a:t>
            </a:r>
          </a:p>
          <a:p>
            <a:pPr lvl="1">
              <a:defRPr sz="1600"/>
            </a:pPr>
            <a:r>
              <a:t>NumPy-style docstrings for Sphinx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Statistics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281353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Repository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~2.8 years (Feb 2023 - Nov 2025)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Commits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964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Contributors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 (16 human + 1 bot)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122 tracked files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60,119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5,739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Repository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72 MB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Branches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 remote branches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Releases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 versions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 Contributor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Anders Logg (32.9%)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Most Active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February 2025 (193 commits)</a:t>
                      </a:r>
                    </a:p>
                  </a:txBody>
                  <a:tcPr/>
                </a:tc>
              </a:tr>
              <a:tr h="28136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Most Active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2023 (459 commits)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25+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Top-Level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100+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Class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200+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Callable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300+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Supported File Formats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25+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Development Patterns</a:t>
            </a:r>
          </a:p>
          <a:p>
            <a:pPr lvl="1">
              <a:defRPr sz="1600"/>
            </a:pPr>
            <a:r>
              <a:t>Active development over 2.8 years</a:t>
            </a:r>
          </a:p>
          <a:p>
            <a:pPr lvl="1">
              <a:defRPr sz="1600"/>
            </a:pPr>
            <a:r>
              <a:t>Core team of 3-4 developers (~80% of commits)</a:t>
            </a:r>
          </a:p>
          <a:p>
            <a:pPr lvl="1">
              <a:defRPr sz="1600"/>
            </a:pPr>
            <a:r>
              <a:t>Multi-OS CI/CD with automated testing</a:t>
            </a:r>
          </a:p>
          <a:p>
            <a:pPr>
              <a:defRPr sz="1800"/>
            </a:pPr>
            <a:r>
              <a:t>Project Focus</a:t>
            </a:r>
          </a:p>
          <a:p>
            <a:pPr lvl="1">
              <a:defRPr sz="1600"/>
            </a:pPr>
            <a:r>
              <a:t>Meta-package architecture</a:t>
            </a:r>
          </a:p>
          <a:p>
            <a:pPr lvl="1">
              <a:defRPr sz="1600"/>
            </a:pPr>
            <a:r>
              <a:t>Heavy documentation (12 MB)</a:t>
            </a:r>
          </a:p>
          <a:p>
            <a:pPr lvl="1">
              <a:defRPr sz="1600"/>
            </a:pPr>
            <a:r>
              <a:t>Demo-driven development (17 demos)</a:t>
            </a:r>
          </a:p>
          <a:p>
            <a:pPr lvl="1">
              <a:defRPr sz="1600"/>
            </a:pPr>
            <a:r>
              <a:t>City-scale digital twins emphasis</a:t>
            </a:r>
          </a:p>
          <a:p>
            <a:pPr>
              <a:defRPr sz="1800"/>
            </a:pPr>
            <a:r>
              <a:t>Recent Activity</a:t>
            </a:r>
          </a:p>
          <a:p>
            <a:pPr lvl="1">
              <a:defRPr sz="1600"/>
            </a:pPr>
            <a:r>
              <a:t>Submodule improvements and IntelliSense support</a:t>
            </a:r>
          </a:p>
          <a:p>
            <a:pPr lvl="1">
              <a:defRPr sz="1600"/>
            </a:pPr>
            <a:r>
              <a:t>Dependency restructuring</a:t>
            </a:r>
          </a:p>
          <a:p>
            <a:pPr lvl="1">
              <a:defRPr sz="1600"/>
            </a:pPr>
            <a:r>
              <a:t>Approaching 1.0.0 release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Interoperability</a:t>
            </a:r>
          </a:p>
          <a:p>
            <a:pPr lvl="1">
              <a:defRPr sz="1600"/>
            </a:pPr>
            <a:r>
              <a:t>Protobuf for cross-language compatibility</a:t>
            </a:r>
          </a:p>
          <a:p>
            <a:pPr lvl="1">
              <a:defRPr sz="1600"/>
            </a:pPr>
            <a:r>
              <a:t>Support for industry-standard file formats</a:t>
            </a:r>
          </a:p>
          <a:p>
            <a:pPr>
              <a:defRPr sz="1800"/>
            </a:pPr>
            <a:r>
              <a:t>Modularity</a:t>
            </a:r>
          </a:p>
          <a:p>
            <a:pPr lvl="1">
              <a:defRPr sz="1600"/>
            </a:pPr>
            <a:r>
              <a:t>Clear separation: Objects/Geometries/Values</a:t>
            </a:r>
          </a:p>
          <a:p>
            <a:pPr lvl="1">
              <a:defRPr sz="1600"/>
            </a:pPr>
            <a:r>
              <a:t>Pluggable components (optional viewer)</a:t>
            </a:r>
          </a:p>
          <a:p>
            <a:pPr>
              <a:defRPr sz="1800"/>
            </a:pPr>
            <a:r>
              <a:t>Extensibility</a:t>
            </a:r>
          </a:p>
          <a:p>
            <a:pPr lvl="1">
              <a:defRPr sz="1600"/>
            </a:pPr>
            <a:r>
              <a:t>Attributes dictionary for metadata</a:t>
            </a:r>
          </a:p>
          <a:p>
            <a:pPr lvl="1">
              <a:defRPr sz="1600"/>
            </a:pPr>
            <a:r>
              <a:t>Custom geometries and flexible fields</a:t>
            </a:r>
          </a:p>
          <a:p>
            <a:pPr>
              <a:defRPr sz="1800"/>
            </a:pPr>
            <a:r>
              <a:t>City-Scale Focus</a:t>
            </a:r>
          </a:p>
          <a:p>
            <a:pPr lvl="1">
              <a:defRPr sz="1600"/>
            </a:pPr>
            <a:r>
              <a:t>Designed for urban digital twins</a:t>
            </a:r>
          </a:p>
          <a:p>
            <a:pPr lvl="1">
              <a:defRPr sz="1600"/>
            </a:pPr>
            <a:r>
              <a:t>Complete data-to-visualization pipeline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DTCC Platform is a comprehensive solution for urban digital twins</a:t>
            </a:r>
          </a:p>
          <a:p>
            <a:pPr>
              <a:defRPr sz="1800"/>
            </a:pPr>
            <a:r>
              <a:t>Active development with strong academic backing</a:t>
            </a:r>
          </a:p>
          <a:p>
            <a:pPr>
              <a:defRPr sz="1800"/>
            </a:pPr>
            <a:r>
              <a:t>Well-architected with clean separation of concerns</a:t>
            </a:r>
          </a:p>
          <a:p>
            <a:pPr>
              <a:defRPr sz="1800"/>
            </a:pPr>
            <a:r>
              <a:t>Extensive API covering the full pipeline:</a:t>
            </a:r>
          </a:p>
          <a:p>
            <a:pPr lvl="1">
              <a:defRPr sz="1600"/>
            </a:pPr>
            <a:r>
              <a:t>Data acquisition → Processing → Modeling → Visualization</a:t>
            </a:r>
          </a:p>
          <a:p>
            <a:pPr>
              <a:defRPr sz="1800"/>
            </a:pPr>
            <a:r>
              <a:t>Strong community contribution from Chalmers University</a:t>
            </a:r>
          </a:p>
          <a:p>
            <a:pPr>
              <a:defRPr sz="1800"/>
            </a:pPr>
            <a:r>
              <a:t>Approaching production-ready 1.0.0 release</a:t>
            </a:r>
          </a:p>
          <a:p>
            <a:pPr>
              <a:defRPr sz="1800"/>
            </a:pPr>
            <a:r>
              <a:t>MIT License enables broad adoption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