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Commits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99</c:v>
                </c:pt>
                <c:pt idx="1">
                  <c:v>262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Commits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Feb 2025</c:v>
                </c:pt>
                <c:pt idx="1">
                  <c:v>Dec 2024</c:v>
                </c:pt>
                <c:pt idx="2">
                  <c:v>Sep 2025</c:v>
                </c:pt>
                <c:pt idx="3">
                  <c:v>Nov 2024</c:v>
                </c:pt>
                <c:pt idx="4">
                  <c:v>Jun 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111</c:v>
                </c:pt>
                <c:pt idx="1">
                  <c:v>44</c:v>
                </c:pt>
                <c:pt idx="2">
                  <c:v>39</c:v>
                </c:pt>
                <c:pt idx="3">
                  <c:v>29</c:v>
                </c:pt>
                <c:pt idx="4">
                  <c:v>21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Commits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Dag Wästberg</c:v>
                </c:pt>
                <c:pt idx="1">
                  <c:v>Vasilis Naserentin</c:v>
                </c:pt>
                <c:pt idx="2">
                  <c:v>George Spaias</c:v>
                </c:pt>
                <c:pt idx="3">
                  <c:v>Anders Logg</c:v>
                </c:pt>
                <c:pt idx="4">
                  <c:v>Themis</c:v>
                </c:pt>
                <c:pt idx="5">
                  <c:v>Others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177</c:v>
                </c:pt>
                <c:pt idx="1">
                  <c:v>79</c:v>
                </c:pt>
                <c:pt idx="2">
                  <c:v>52</c:v>
                </c:pt>
                <c:pt idx="3">
                  <c:v>44</c:v>
                </c:pt>
                <c:pt idx="4">
                  <c:v>9</c:v>
                </c:pt>
                <c:pt idx="5">
                  <c:v>0</c:v>
                </c:pt>
              </c:numCache>
            </c:numRef>
          </c:val>
        </c:ser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Lines of Code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C++ Core</c:v>
                </c:pt>
                <c:pt idx="1">
                  <c:v>Python API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240768</c:v>
                </c:pt>
                <c:pt idx="1">
                  <c:v>16368</c:v>
                </c:pt>
              </c:numCache>
            </c:numRef>
          </c:val>
        </c:ser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DTCC Core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Repository Analysis</a:t>
            </a:r>
          </a:p>
          <a:p>
            <a:r>
              <a:t>The Computational Engine of DTCC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Core functionality for DTCC Platform</a:t>
            </a:r>
          </a:p>
          <a:p>
            <a:pPr>
              <a:defRPr sz="1800"/>
            </a:pPr>
            <a:r>
              <a:t>Data modeling, wrangling, generation, and I/O</a:t>
            </a:r>
          </a:p>
          <a:p>
            <a:pPr>
              <a:defRPr sz="1800"/>
            </a:pPr>
            <a:r>
              <a:t>Active development since September 2024</a:t>
            </a:r>
          </a:p>
          <a:p>
            <a:pPr>
              <a:defRPr sz="1800"/>
            </a:pPr>
            <a:r>
              <a:t>361 commits across 6 contributors</a:t>
            </a:r>
          </a:p>
          <a:p>
            <a:pPr>
              <a:defRPr sz="1800"/>
            </a:pPr>
            <a:r>
              <a:t>Current version: 0.9.3dev</a:t>
            </a:r>
          </a:p>
          <a:p>
            <a:pPr>
              <a:defRPr sz="1800"/>
            </a:pPr>
            <a:r>
              <a:t>Hybrid C++/Python implementation</a:t>
            </a:r>
          </a:p>
          <a:p>
            <a:pPr lvl="1">
              <a:defRPr sz="1600"/>
            </a:pPr>
            <a:r>
              <a:t>240,768 lines of C++ (performance core)</a:t>
            </a:r>
          </a:p>
          <a:p>
            <a:pPr lvl="1">
              <a:defRPr sz="1600"/>
            </a:pPr>
            <a:r>
              <a:t>16,368 lines of Python (API layer)</a:t>
            </a:r>
          </a:p>
          <a:p>
            <a:pPr>
              <a:defRPr sz="1800"/>
            </a:pPr>
            <a:r>
              <a:t>MIT License, developed at Chalmers University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Size and Structure</a:t>
            </a:r>
          </a:p>
          <a:p>
            <a:pPr lvl="1">
              <a:defRPr sz="1600"/>
            </a:pPr>
            <a:r>
              <a:t>Total repository size: 33 MB</a:t>
            </a:r>
          </a:p>
          <a:p>
            <a:pPr lvl="1">
              <a:defRPr sz="1600"/>
            </a:pPr>
            <a:r>
              <a:t>966 tracked files</a:t>
            </a:r>
          </a:p>
          <a:p>
            <a:pPr lvl="1">
              <a:defRPr sz="1600"/>
            </a:pPr>
            <a:r>
              <a:t>257,136 total lines of code</a:t>
            </a:r>
          </a:p>
          <a:p>
            <a:pPr>
              <a:defRPr sz="1800"/>
            </a:pPr>
            <a:r>
              <a:t>Code Breakdown</a:t>
            </a:r>
          </a:p>
          <a:p>
            <a:pPr lvl="1">
              <a:defRPr sz="1600"/>
            </a:pPr>
            <a:r>
              <a:t>C++: 427 files (240,768 lines) - Core algorithms</a:t>
            </a:r>
          </a:p>
          <a:p>
            <a:pPr lvl="1">
              <a:defRPr sz="1600"/>
            </a:pPr>
            <a:r>
              <a:t>Python: 182 files (16,368 lines) - API &amp; bindings</a:t>
            </a:r>
          </a:p>
          <a:p>
            <a:pPr>
              <a:defRPr sz="1800"/>
            </a:pPr>
            <a:r>
              <a:t>Key Directories</a:t>
            </a:r>
          </a:p>
          <a:p>
            <a:pPr lvl="1">
              <a:defRPr sz="1600"/>
            </a:pPr>
            <a:r>
              <a:t>/dtcc_core: 16 MB (main source)</a:t>
            </a:r>
          </a:p>
          <a:p>
            <a:pPr lvl="1">
              <a:defRPr sz="1600"/>
            </a:pPr>
            <a:r>
              <a:t>/tests: 1.7 MB (39 test files)</a:t>
            </a:r>
          </a:p>
          <a:p>
            <a:pPr lvl="1">
              <a:defRPr sz="1600"/>
            </a:pPr>
            <a:r>
              <a:t>/cpp: C++ core implementation with pybind11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Commit Activity by Year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82880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Most Active Months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82880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Contributors by Commits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82880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Composition: C++ vs Python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82880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Branching &amp; Release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Main Branches</a:t>
            </a:r>
          </a:p>
          <a:p>
            <a:pPr lvl="1">
              <a:defRPr sz="1600"/>
            </a:pPr>
            <a:r>
              <a:t>main: Release branch</a:t>
            </a:r>
          </a:p>
          <a:p>
            <a:pPr lvl="1">
              <a:defRPr sz="1600"/>
            </a:pPr>
            <a:r>
              <a:t>develop: Development branch</a:t>
            </a:r>
          </a:p>
          <a:p>
            <a:pPr lvl="1">
              <a:defRPr sz="1600"/>
            </a:pPr>
            <a:r>
              <a:t>dev/wrapper-spade: Currently active</a:t>
            </a:r>
          </a:p>
          <a:p>
            <a:pPr>
              <a:defRPr sz="1800"/>
            </a:pPr>
            <a:r>
              <a:t>Development Branches</a:t>
            </a:r>
          </a:p>
          <a:p>
            <a:pPr lvl="1">
              <a:defRPr sz="1600"/>
            </a:pPr>
            <a:r>
              <a:t>dev/mixin_refactor, dev/new-volume-mesh-builder-testing</a:t>
            </a:r>
          </a:p>
          <a:p>
            <a:pPr lvl="1">
              <a:defRPr sz="1600"/>
            </a:pPr>
            <a:r>
              <a:t>dev/new_city_API, dev/parallel, dev/surface_tiling</a:t>
            </a:r>
          </a:p>
          <a:p>
            <a:pPr lvl="1">
              <a:defRPr sz="1600"/>
            </a:pPr>
            <a:r>
              <a:t>dev/tree_extractor</a:t>
            </a:r>
          </a:p>
          <a:p>
            <a:pPr>
              <a:defRPr sz="1800"/>
            </a:pPr>
            <a:r>
              <a:t>Releases</a:t>
            </a:r>
          </a:p>
          <a:p>
            <a:pPr lvl="1">
              <a:defRPr sz="1600"/>
            </a:pPr>
            <a:r>
              <a:t>v0.9.3dev (current), v0.9.3, v0.9.1dev, v0.9.1, v0.9.0dev, v0.9.0</a:t>
            </a:r>
          </a:p>
          <a:p>
            <a:pPr lvl="1">
              <a:defRPr sz="1600"/>
            </a:pPr>
            <a:r>
              <a:t>Semantic versioning, approaching 1.0.0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CI/CD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ci-build-tests.yml - Comprehensive Testing</a:t>
            </a:r>
          </a:p>
          <a:p>
            <a:pPr lvl="1">
              <a:defRPr sz="1600"/>
            </a:pPr>
            <a:r>
              <a:t>Multi-OS: Ubuntu, macOS, Windows</a:t>
            </a:r>
          </a:p>
          <a:p>
            <a:pPr lvl="1">
              <a:defRPr sz="1600"/>
            </a:pPr>
            <a:r>
              <a:t>Python 3.11, pytest with coverage</a:t>
            </a:r>
          </a:p>
          <a:p>
            <a:pPr lvl="1">
              <a:defRPr sz="1600"/>
            </a:pPr>
            <a:r>
              <a:t>Public API Verification (strict mode)</a:t>
            </a:r>
          </a:p>
          <a:p>
            <a:pPr lvl="1">
              <a:defRPr sz="1600"/>
            </a:pPr>
            <a:r>
              <a:t>Ensures ALL exported functions are tested</a:t>
            </a:r>
          </a:p>
          <a:p>
            <a:pPr lvl="1">
              <a:defRPr sz="1600"/>
            </a:pPr>
            <a:r>
              <a:t>Slack notifications on success/failure</a:t>
            </a:r>
          </a:p>
          <a:p>
            <a:pPr>
              <a:defRPr sz="1800"/>
            </a:pPr>
            <a:r>
              <a:t>2. ci-wheels.yml - Wheel Building</a:t>
            </a:r>
          </a:p>
          <a:p>
            <a:pPr lvl="1">
              <a:defRPr sz="1600"/>
            </a:pPr>
            <a:r>
              <a:t>Multi-platform wheel distribution</a:t>
            </a:r>
          </a:p>
          <a:p>
            <a:pPr>
              <a:defRPr sz="1800"/>
            </a:pPr>
            <a:r>
              <a:t>Quality Enforcement</a:t>
            </a:r>
          </a:p>
          <a:p>
            <a:pPr lvl="1">
              <a:defRPr sz="1600"/>
            </a:pPr>
            <a:r>
              <a:t>39 test files with comprehensive coverage</a:t>
            </a:r>
          </a:p>
          <a:p>
            <a:pPr lvl="1">
              <a:defRPr sz="1600"/>
            </a:pPr>
            <a:r>
              <a:t>Script: check_public_api_calls.py verifies all exports</a:t>
            </a:r>
          </a:p>
          <a:p>
            <a:pPr lvl="1">
              <a:defRPr sz="1600"/>
            </a:pPr>
            <a:r>
              <a:t>Test coverage reports generated as JSON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Dependencies (33 Packages)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Geospatial Stack</a:t>
            </a:r>
          </a:p>
          <a:p>
            <a:pPr lvl="1">
              <a:defRPr sz="1600"/>
            </a:pPr>
            <a:r>
              <a:t>Fiona, geopandas, pyproj, shapely, rasterio, rasterstats</a:t>
            </a:r>
          </a:p>
          <a:p>
            <a:pPr>
              <a:defRPr sz="1800"/>
            </a:pPr>
            <a:r>
              <a:t>Point Cloud &amp; LiDAR</a:t>
            </a:r>
          </a:p>
          <a:p>
            <a:pPr lvl="1">
              <a:defRPr sz="1600"/>
            </a:pPr>
            <a:r>
              <a:t>laspy[lazrs], pypoints2grid</a:t>
            </a:r>
          </a:p>
          <a:p>
            <a:pPr>
              <a:defRPr sz="1800"/>
            </a:pPr>
            <a:r>
              <a:t>Mesh &amp; 3D</a:t>
            </a:r>
          </a:p>
          <a:p>
            <a:pPr lvl="1">
              <a:defRPr sz="1600"/>
            </a:pPr>
            <a:r>
              <a:t>meshio, pyassimp, pygltflib</a:t>
            </a:r>
          </a:p>
          <a:p>
            <a:pPr>
              <a:defRPr sz="1800"/>
            </a:pPr>
            <a:r>
              <a:t>Numerical &amp; Scientific</a:t>
            </a:r>
          </a:p>
          <a:p>
            <a:pPr lvl="1">
              <a:defRPr sz="1600"/>
            </a:pPr>
            <a:r>
              <a:t>numpy, scipy, scikit-image</a:t>
            </a:r>
          </a:p>
          <a:p>
            <a:pPr>
              <a:defRPr sz="1800"/>
            </a:pPr>
            <a:r>
              <a:t>Data &amp; I/O</a:t>
            </a:r>
          </a:p>
          <a:p>
            <a:pPr lvl="1">
              <a:defRPr sz="1600"/>
            </a:pPr>
            <a:r>
              <a:t>protobuf, h5py, pillow</a:t>
            </a:r>
          </a:p>
          <a:p>
            <a:pPr>
              <a:defRPr sz="1800"/>
            </a:pPr>
            <a:r>
              <a:t>Build System</a:t>
            </a:r>
          </a:p>
          <a:p>
            <a:pPr lvl="1">
              <a:defRPr sz="1600"/>
            </a:pPr>
            <a:r>
              <a:t>scikit-build-core, pybind11, CMake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Four Core Modules</a:t>
            </a:r>
          </a:p>
          <a:p>
            <a:pPr lvl="1">
              <a:defRPr sz="1600"/>
            </a:pPr>
            <a:r>
              <a:t>dtcc_core.model - Data model classes (18 classes)</a:t>
            </a:r>
          </a:p>
          <a:p>
            <a:pPr lvl="1">
              <a:defRPr sz="1600"/>
            </a:pPr>
            <a:r>
              <a:t>dtcc_core.builder - Building &amp; processing (14+ functions)</a:t>
            </a:r>
          </a:p>
          <a:p>
            <a:pPr lvl="1">
              <a:defRPr sz="1600"/>
            </a:pPr>
            <a:r>
              <a:t>dtcc_core.io - Input/output (11+ functions)</a:t>
            </a:r>
          </a:p>
          <a:p>
            <a:pPr lvl="1">
              <a:defRPr sz="1600"/>
            </a:pPr>
            <a:r>
              <a:t>dtcc_core.common - Utilities &amp; logging (7 functions)</a:t>
            </a:r>
          </a:p>
          <a:p>
            <a:pPr>
              <a:defRPr sz="1800"/>
            </a:pPr>
            <a:r>
              <a:t>C++ Core (dtcc_core.cpp)</a:t>
            </a:r>
          </a:p>
          <a:p>
            <a:pPr lvl="1">
              <a:defRPr sz="1600"/>
            </a:pPr>
            <a:r>
              <a:t>High-performance computational algorithms</a:t>
            </a:r>
          </a:p>
          <a:p>
            <a:pPr lvl="1">
              <a:defRPr sz="1600"/>
            </a:pPr>
            <a:r>
              <a:t>External libraries (AMGCL)</a:t>
            </a:r>
          </a:p>
          <a:p>
            <a:pPr lvl="1">
              <a:defRPr sz="1600"/>
            </a:pPr>
            <a:r>
              <a:t>pybind11 bindings for Python integration</a:t>
            </a:r>
          </a:p>
          <a:p>
            <a:pPr>
              <a:defRPr sz="1800"/>
            </a:pPr>
            <a:r>
              <a:t>Design</a:t>
            </a:r>
          </a:p>
          <a:p>
            <a:pPr lvl="1">
              <a:defRPr sz="1600"/>
            </a:pPr>
            <a:r>
              <a:t>Clean module separation</a:t>
            </a:r>
          </a:p>
          <a:p>
            <a:pPr lvl="1">
              <a:defRPr sz="1600"/>
            </a:pPr>
            <a:r>
              <a:t>Mixin-based extensibility</a:t>
            </a:r>
          </a:p>
          <a:p>
            <a:pPr lvl="1">
              <a:defRPr sz="1600"/>
            </a:pPr>
            <a:r>
              <a:t>Registered method pattern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Model: Three-Tier Hierarchy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Objects (City Elements) - 11 classes</a:t>
            </a:r>
          </a:p>
          <a:p>
            <a:pPr lvl="1">
              <a:defRPr sz="1600"/>
            </a:pPr>
            <a:r>
              <a:t>City, Building, BuildingPart, CityObject</a:t>
            </a:r>
          </a:p>
          <a:p>
            <a:pPr lvl="1">
              <a:defRPr sz="1600"/>
            </a:pPr>
            <a:r>
              <a:t>Terrain, Tree, RoadNetwork, Landuse</a:t>
            </a:r>
          </a:p>
          <a:p>
            <a:pPr lvl="1">
              <a:defRPr sz="1600"/>
            </a:pPr>
            <a:r>
              <a:t>Object (base), GeometryType, RoadType, LanduseClasses (enums)</a:t>
            </a:r>
          </a:p>
          <a:p>
            <a:pPr>
              <a:defRPr sz="1800"/>
            </a:pPr>
            <a:r>
              <a:t>2. Geometries (Spatial) - 11 classes</a:t>
            </a:r>
          </a:p>
          <a:p>
            <a:pPr lvl="1">
              <a:defRPr sz="1600"/>
            </a:pPr>
            <a:r>
              <a:t>Mesh, VolumeMesh, PointCloud</a:t>
            </a:r>
          </a:p>
          <a:p>
            <a:pPr lvl="1">
              <a:defRPr sz="1600"/>
            </a:pPr>
            <a:r>
              <a:t>Surface, MultiSurface</a:t>
            </a:r>
          </a:p>
          <a:p>
            <a:pPr lvl="1">
              <a:defRPr sz="1600"/>
            </a:pPr>
            <a:r>
              <a:t>Grid, VolumeGrid, Bounds, Transform</a:t>
            </a:r>
          </a:p>
          <a:p>
            <a:pPr lvl="1">
              <a:defRPr sz="1600"/>
            </a:pPr>
            <a:r>
              <a:t>LineString, MultiLineString</a:t>
            </a:r>
          </a:p>
          <a:p>
            <a:pPr>
              <a:defRPr sz="1800"/>
            </a:pPr>
            <a:r>
              <a:t>3. Values (Data) - 2 classes</a:t>
            </a:r>
          </a:p>
          <a:p>
            <a:pPr lvl="1">
              <a:defRPr sz="1600"/>
            </a:pPr>
            <a:r>
              <a:t>Field - Scalar/vector fields</a:t>
            </a:r>
          </a:p>
          <a:p>
            <a:pPr lvl="1">
              <a:defRPr sz="1600"/>
            </a:pPr>
            <a:r>
              <a:t>Raster - Georeferenced grids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Builder Functions (14 Exported)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Terrain Building (3)</a:t>
            </a:r>
          </a:p>
          <a:p>
            <a:pPr lvl="1">
              <a:defRPr sz="1600"/>
            </a:pPr>
            <a:r>
              <a:t>build_terrain_mesh, build_terrain_raster, flat_terrain</a:t>
            </a:r>
          </a:p>
          <a:p>
            <a:pPr>
              <a:defRPr sz="1800"/>
            </a:pPr>
            <a:r>
              <a:t>Building Processing (5)</a:t>
            </a:r>
          </a:p>
          <a:p>
            <a:pPr lvl="1">
              <a:defRPr sz="1600"/>
            </a:pPr>
            <a:r>
              <a:t>extract_roof_points, compute_building_heights</a:t>
            </a:r>
          </a:p>
          <a:p>
            <a:pPr lvl="1">
              <a:defRPr sz="1600"/>
            </a:pPr>
            <a:r>
              <a:t>build_lod1_buildings, extrude_building</a:t>
            </a:r>
          </a:p>
          <a:p>
            <a:pPr lvl="1">
              <a:defRPr sz="1600"/>
            </a:pPr>
            <a:r>
              <a:t>building_heights_from_pointcloud</a:t>
            </a:r>
          </a:p>
          <a:p>
            <a:pPr>
              <a:defRPr sz="1800"/>
            </a:pPr>
            <a:r>
              <a:t>Building Modification (4)</a:t>
            </a:r>
          </a:p>
          <a:p>
            <a:pPr lvl="1">
              <a:defRPr sz="1600"/>
            </a:pPr>
            <a:r>
              <a:t>merge_building_footprints, simplify_building_footprints</a:t>
            </a:r>
          </a:p>
          <a:p>
            <a:pPr lvl="1">
              <a:defRPr sz="1600"/>
            </a:pPr>
            <a:r>
              <a:t>fix_building_footprint_clearance, split_footprint_walls</a:t>
            </a:r>
          </a:p>
          <a:p>
            <a:pPr>
              <a:defRPr sz="1800"/>
            </a:pPr>
            <a:r>
              <a:t>City Processing (3)</a:t>
            </a:r>
          </a:p>
          <a:p>
            <a:pPr lvl="1">
              <a:defRPr sz="1600"/>
            </a:pPr>
            <a:r>
              <a:t>build_city_mesh, build_city_volume_mesh</a:t>
            </a:r>
          </a:p>
          <a:p>
            <a:pPr lvl="1">
              <a:defRPr sz="1600"/>
            </a:pPr>
            <a:r>
              <a:t>merge_buildings, fix_building_clearance, clean_building_surfaces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I/O Functions (20+ Total, 11 Exported)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Loading (9)</a:t>
            </a:r>
          </a:p>
          <a:p>
            <a:pPr lvl="1">
              <a:defRPr sz="1600"/>
            </a:pPr>
            <a:r>
              <a:t>load_pointcloud, load_mesh, load_volume_mesh</a:t>
            </a:r>
          </a:p>
          <a:p>
            <a:pPr lvl="1">
              <a:defRPr sz="1600"/>
            </a:pPr>
            <a:r>
              <a:t>load_raster, load_footprints, load_cityjson</a:t>
            </a:r>
          </a:p>
          <a:p>
            <a:pPr lvl="1">
              <a:defRPr sz="1600"/>
            </a:pPr>
            <a:r>
              <a:t>load_city, load_roadnetwork, load_landuse</a:t>
            </a:r>
          </a:p>
          <a:p>
            <a:pPr>
              <a:defRPr sz="1800"/>
            </a:pPr>
            <a:r>
              <a:t>Saving (6)</a:t>
            </a:r>
          </a:p>
          <a:p>
            <a:pPr lvl="1">
              <a:defRPr sz="1600"/>
            </a:pPr>
            <a:r>
              <a:t>save_pointcloud, save_mesh, save_volume_mesh</a:t>
            </a:r>
          </a:p>
          <a:p>
            <a:pPr lvl="1">
              <a:defRPr sz="1600"/>
            </a:pPr>
            <a:r>
              <a:t>save_raster, save_footprints, save_city</a:t>
            </a:r>
          </a:p>
          <a:p>
            <a:pPr>
              <a:defRPr sz="1800"/>
            </a:pPr>
            <a:r>
              <a:t>Data Download (4)</a:t>
            </a:r>
          </a:p>
          <a:p>
            <a:pPr lvl="1">
              <a:defRPr sz="1600"/>
            </a:pPr>
            <a:r>
              <a:t>download_data, download_pointcloud</a:t>
            </a:r>
          </a:p>
          <a:p>
            <a:pPr lvl="1">
              <a:defRPr sz="1600"/>
            </a:pPr>
            <a:r>
              <a:t>download_footprints, download_roadnetwork</a:t>
            </a:r>
          </a:p>
          <a:p>
            <a:pPr lvl="1">
              <a:defRPr sz="1600"/>
            </a:pPr>
            <a:r>
              <a:t>empty_cache</a:t>
            </a:r>
          </a:p>
          <a:p>
            <a:pPr>
              <a:defRPr sz="1800"/>
            </a:pPr>
            <a:r>
              <a:t>Utilities</a:t>
            </a:r>
          </a:p>
          <a:p>
            <a:pPr lvl="1">
              <a:defRPr sz="1600"/>
            </a:pPr>
            <a:r>
              <a:t>list_mesh_io, print_mesh_io, write_cityjson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Largest Python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Top Implementation Files by LOC:</a:t>
            </a:r>
          </a:p>
          <a:p>
            <a:pPr lvl="1">
              <a:defRPr sz="1600"/>
            </a:pPr>
            <a:r>
              <a:t>builder/polygons/polygons.py - 815 lines</a:t>
            </a:r>
          </a:p>
          <a:p>
            <a:pPr lvl="1">
              <a:defRPr sz="1600"/>
            </a:pPr>
            <a:r>
              <a:t>model/object/object.py - 515 lines (base class)</a:t>
            </a:r>
          </a:p>
          <a:p>
            <a:pPr lvl="1">
              <a:defRPr sz="1600"/>
            </a:pPr>
            <a:r>
              <a:t>io/data/lidar.py - 506 lines (LiDAR I/O)</a:t>
            </a:r>
          </a:p>
          <a:p>
            <a:pPr lvl="1">
              <a:defRPr sz="1600"/>
            </a:pPr>
            <a:r>
              <a:t>builder/meshing/mesh_tiler.py - 491 lines</a:t>
            </a:r>
          </a:p>
          <a:p>
            <a:pPr lvl="1">
              <a:defRPr sz="1600"/>
            </a:pPr>
            <a:r>
              <a:t>builder/geometry_builders/meshes.py - 415 lines</a:t>
            </a:r>
          </a:p>
          <a:p>
            <a:pPr lvl="1">
              <a:defRPr sz="1600"/>
            </a:pPr>
            <a:r>
              <a:t>model/geometry/bounds.py - 383 lines</a:t>
            </a:r>
          </a:p>
          <a:p>
            <a:pPr lvl="1">
              <a:defRPr sz="1600"/>
            </a:pPr>
            <a:r>
              <a:t>io/meshes.py - 383 lines</a:t>
            </a:r>
          </a:p>
          <a:p>
            <a:pPr lvl="1">
              <a:defRPr sz="1600"/>
            </a:pPr>
            <a:r>
              <a:t>builder/geometry_builders/buildings.py - 377 lines</a:t>
            </a:r>
          </a:p>
          <a:p>
            <a:pPr lvl="1">
              <a:defRPr sz="1600"/>
            </a:pPr>
            <a:r>
              <a:t>io/footprints.py - 361 lines</a:t>
            </a:r>
          </a:p>
          <a:p>
            <a:pPr lvl="1">
              <a:defRPr sz="1600"/>
            </a:pPr>
            <a:r>
              <a:t>model/geometry/surface.py - 344 lines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Supported File Formats (25+)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096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Input Formats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Output Formats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Point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LAS, LAZ, CSV, PB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LAS, LAZ, CSV, PB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City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CityJSON, PB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CityJSON, PB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Meshes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OBJ, PLY, STL, VTK, glTF, FBX, DAE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OBJ, PLY, STL, VTK, glTF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Vector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GeoJSON, SHP, GPKG, PB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GeoJSON, SHP, GPKG, PB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GeoTIFF, etc.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GeoTIFF, etc.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39 Test Files - Comprehensive Coverage</a:t>
            </a:r>
          </a:p>
          <a:p>
            <a:pPr lvl="1">
              <a:defRPr sz="1600"/>
            </a:pPr>
            <a:r>
              <a:t>Builder tests: 12 files</a:t>
            </a:r>
          </a:p>
          <a:p>
            <a:pPr lvl="1">
              <a:defRPr sz="1600"/>
            </a:pPr>
            <a:r>
              <a:t>I/O tests: 12 files</a:t>
            </a:r>
          </a:p>
          <a:p>
            <a:pPr lvl="1">
              <a:defRPr sz="1600"/>
            </a:pPr>
            <a:r>
              <a:t>Model tests: 10 files</a:t>
            </a:r>
          </a:p>
          <a:p>
            <a:pPr>
              <a:defRPr sz="1800"/>
            </a:pPr>
            <a:r>
              <a:t>CI Enforcement</a:t>
            </a:r>
          </a:p>
          <a:p>
            <a:pPr lvl="1">
              <a:defRPr sz="1600"/>
            </a:pPr>
            <a:r>
              <a:t>Public API verification in strict mode</a:t>
            </a:r>
          </a:p>
          <a:p>
            <a:pPr lvl="1">
              <a:defRPr sz="1600"/>
            </a:pPr>
            <a:r>
              <a:t>ALL exported functions MUST be tested</a:t>
            </a:r>
          </a:p>
          <a:p>
            <a:pPr lvl="1">
              <a:defRPr sz="1600"/>
            </a:pPr>
            <a:r>
              <a:t>Coverage reports generated as JSON</a:t>
            </a:r>
          </a:p>
          <a:p>
            <a:pPr lvl="1">
              <a:defRPr sz="1600"/>
            </a:pPr>
            <a:r>
              <a:t>check_public_api_calls.py script validates coverage</a:t>
            </a:r>
          </a:p>
          <a:p>
            <a:pPr>
              <a:defRPr sz="1800"/>
            </a:pPr>
            <a:r>
              <a:t>Makefile Shortcuts</a:t>
            </a:r>
          </a:p>
          <a:p>
            <a:pPr lvl="1">
              <a:defRPr sz="1600"/>
            </a:pPr>
            <a:r>
              <a:t>make test, make coverage, make check-public-api</a:t>
            </a:r>
          </a:p>
          <a:p>
            <a:pPr lvl="1">
              <a:defRPr sz="1600"/>
            </a:pPr>
            <a:r>
              <a:t>make verify-public-api (coverage + verification)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Patterns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Object-Geometry-Values Hierarchy</a:t>
            </a:r>
          </a:p>
          <a:p>
            <a:pPr lvl="1">
              <a:defRPr sz="1600"/>
            </a:pPr>
            <a:r>
              <a:t>Clean separation of city elements, spatial data, and values</a:t>
            </a:r>
          </a:p>
          <a:p>
            <a:pPr>
              <a:defRPr sz="1800"/>
            </a:pPr>
            <a:r>
              <a:t>2. Mixin Pattern</a:t>
            </a:r>
          </a:p>
          <a:p>
            <a:pPr lvl="1">
              <a:defRPr sz="1600"/>
            </a:pPr>
            <a:r>
              <a:t>Extensible class system via mixins</a:t>
            </a:r>
          </a:p>
          <a:p>
            <a:pPr lvl="1">
              <a:defRPr sz="1600"/>
            </a:pPr>
            <a:r>
              <a:t>Dynamic method registration</a:t>
            </a:r>
          </a:p>
          <a:p>
            <a:pPr>
              <a:defRPr sz="1800"/>
            </a:pPr>
            <a:r>
              <a:t>3. Builder Pattern</a:t>
            </a:r>
          </a:p>
          <a:p>
            <a:pPr lvl="1">
              <a:defRPr sz="1600"/>
            </a:pPr>
            <a:r>
              <a:t>Separate builder module, composable operations</a:t>
            </a:r>
          </a:p>
          <a:p>
            <a:pPr>
              <a:defRPr sz="1800"/>
            </a:pPr>
            <a:r>
              <a:t>4. Protobuf Serialization</a:t>
            </a:r>
          </a:p>
          <a:p>
            <a:pPr lvl="1">
              <a:defRPr sz="1600"/>
            </a:pPr>
            <a:r>
              <a:t>Efficient binary format, language-agnostic</a:t>
            </a:r>
          </a:p>
          <a:p>
            <a:pPr>
              <a:defRPr sz="1800"/>
            </a:pPr>
            <a:r>
              <a:t>5. C++ Core with Python Bindings</a:t>
            </a:r>
          </a:p>
          <a:p>
            <a:pPr lvl="1">
              <a:defRPr sz="1600"/>
            </a:pPr>
            <a:r>
              <a:t>Performance-critical code in C++, pybind11 integration</a:t>
            </a:r>
          </a:p>
          <a:p>
            <a:pPr>
              <a:defRPr sz="1800"/>
            </a:pPr>
            <a:r>
              <a:t>6. Registered Methods</a:t>
            </a:r>
          </a:p>
          <a:p>
            <a:pPr lvl="1">
              <a:defRPr sz="1600"/>
            </a:pPr>
            <a:r>
              <a:t>Dynamic method addition to model classes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DTCC Core vs Main DTCC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32509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dtcc-core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dtcc (main)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~1.2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~2.8 years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Commits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964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Python LOC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16,368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5,739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C++ LOC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240,768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Contributors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17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Test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Dependencies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Demos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17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Top Contributor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Dag (49%)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Anders (33%)</a:t>
                      </a:r>
                    </a:p>
                  </a:txBody>
                  <a:tcPr/>
                </a:tc>
              </a:tr>
              <a:tr h="33251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Core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Meta-package + docs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Data Acquisition</a:t>
            </a:r>
          </a:p>
          <a:p>
            <a:pPr lvl="1">
              <a:defRPr sz="1600"/>
            </a:pPr>
            <a:r>
              <a:t>Download from DTCC servers and OpenStreetMap</a:t>
            </a:r>
          </a:p>
          <a:p>
            <a:pPr lvl="1">
              <a:defRPr sz="1600"/>
            </a:pPr>
            <a:r>
              <a:t>Intelligent caching, rate-limited downloads</a:t>
            </a:r>
          </a:p>
          <a:p>
            <a:pPr>
              <a:defRPr sz="1800"/>
            </a:pPr>
            <a:r>
              <a:t>Geometry Processing</a:t>
            </a:r>
          </a:p>
          <a:p>
            <a:pPr lvl="1">
              <a:defRPr sz="1600"/>
            </a:pPr>
            <a:r>
              <a:t>Terrain mesh generation with conformance</a:t>
            </a:r>
          </a:p>
          <a:p>
            <a:pPr lvl="1">
              <a:defRPr sz="1600"/>
            </a:pPr>
            <a:r>
              <a:t>Building extrusion, LOD generation</a:t>
            </a:r>
          </a:p>
          <a:p>
            <a:pPr lvl="1">
              <a:defRPr sz="1600"/>
            </a:pPr>
            <a:r>
              <a:t>Point cloud filtering and classification</a:t>
            </a:r>
          </a:p>
          <a:p>
            <a:pPr lvl="1">
              <a:defRPr sz="1600"/>
            </a:pPr>
            <a:r>
              <a:t>Mesh tiling for 3D printing</a:t>
            </a:r>
          </a:p>
          <a:p>
            <a:pPr>
              <a:defRPr sz="1800"/>
            </a:pPr>
            <a:r>
              <a:t>Computational Algorithms (C++)</a:t>
            </a:r>
          </a:p>
          <a:p>
            <a:pPr lvl="1">
              <a:defRPr sz="1600"/>
            </a:pPr>
            <a:r>
              <a:t>High-performance meshing</a:t>
            </a:r>
          </a:p>
          <a:p>
            <a:pPr lvl="1">
              <a:defRPr sz="1600"/>
            </a:pPr>
            <a:r>
              <a:t>Geometric operations, numerical solvers (AMGCL)</a:t>
            </a:r>
          </a:p>
          <a:p>
            <a:pPr>
              <a:defRPr sz="1800"/>
            </a:pPr>
            <a:r>
              <a:t>Multi-Format I/O</a:t>
            </a:r>
          </a:p>
          <a:p>
            <a:pPr lvl="1">
              <a:defRPr sz="1600"/>
            </a:pPr>
            <a:r>
              <a:t>25+ file formats across point clouds, meshes, vectors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Statistics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281353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281353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Repository 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~1.2 years (Sep 2024 - Nov 2025)</a:t>
                      </a:r>
                    </a:p>
                  </a:txBody>
                  <a:tcPr/>
                </a:tc>
              </a:tr>
              <a:tr h="281353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Total Commits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361</a:t>
                      </a:r>
                    </a:p>
                  </a:txBody>
                  <a:tcPr/>
                </a:tc>
              </a:tr>
              <a:tr h="281353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Total Contributors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</a:tr>
              <a:tr h="281353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Total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966</a:t>
                      </a:r>
                    </a:p>
                  </a:txBody>
                  <a:tcPr/>
                </a:tc>
              </a:tr>
              <a:tr h="281353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Python 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16,368</a:t>
                      </a:r>
                    </a:p>
                  </a:txBody>
                  <a:tcPr/>
                </a:tc>
              </a:tr>
              <a:tr h="281353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C++ 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240,768</a:t>
                      </a:r>
                    </a:p>
                  </a:txBody>
                  <a:tcPr/>
                </a:tc>
              </a:tr>
              <a:tr h="281353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Total Code 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257,136</a:t>
                      </a:r>
                    </a:p>
                  </a:txBody>
                  <a:tcPr/>
                </a:tc>
              </a:tr>
              <a:tr h="281353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Repository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33 MB</a:t>
                      </a:r>
                    </a:p>
                  </a:txBody>
                  <a:tcPr/>
                </a:tc>
              </a:tr>
              <a:tr h="281353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Test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39</a:t>
                      </a:r>
                    </a:p>
                  </a:txBody>
                  <a:tcPr/>
                </a:tc>
              </a:tr>
              <a:tr h="281353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Top Contributor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Dag Wästberg (49.0%)</a:t>
                      </a:r>
                    </a:p>
                  </a:txBody>
                  <a:tcPr/>
                </a:tc>
              </a:tr>
              <a:tr h="281353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Most Active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February 2025 (111 commits)</a:t>
                      </a:r>
                    </a:p>
                  </a:txBody>
                  <a:tcPr/>
                </a:tc>
              </a:tr>
              <a:tr h="28136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Current 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0.9.3dev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Model 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18 (Objects: 11, Geometries: 11, Values: 2)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Builder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14+ exported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I/O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20+ total (11 exported)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Common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Total Exported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50+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Supported File Formats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25+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External Dependencies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33 packages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C++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427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Python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182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Development Patterns</a:t>
            </a:r>
          </a:p>
          <a:p>
            <a:pPr lvl="1">
              <a:defRPr sz="1600"/>
            </a:pPr>
            <a:r>
              <a:t>Rapid initial development (99 commits in 4 months)</a:t>
            </a:r>
          </a:p>
          <a:p>
            <a:pPr lvl="1">
              <a:defRPr sz="1600"/>
            </a:pPr>
            <a:r>
              <a:t>Peak activity: February 2025 (111 commits)</a:t>
            </a:r>
          </a:p>
          <a:p>
            <a:pPr lvl="1">
              <a:defRPr sz="1600"/>
            </a:pPr>
            <a:r>
              <a:t>Core team: Dag, Vasilis, George (85% of commits)</a:t>
            </a:r>
          </a:p>
          <a:p>
            <a:pPr lvl="1">
              <a:defRPr sz="1600"/>
            </a:pPr>
            <a:r>
              <a:t>Active maintenance: 58 commits in last 3 months</a:t>
            </a:r>
          </a:p>
          <a:p>
            <a:pPr>
              <a:defRPr sz="1800"/>
            </a:pPr>
            <a:r>
              <a:t>Technical Focus</a:t>
            </a:r>
          </a:p>
          <a:p>
            <a:pPr lvl="1">
              <a:defRPr sz="1600"/>
            </a:pPr>
            <a:r>
              <a:t>C++ core: 240K+ lines for performance</a:t>
            </a:r>
          </a:p>
          <a:p>
            <a:pPr lvl="1">
              <a:defRPr sz="1600"/>
            </a:pPr>
            <a:r>
              <a:t>Clean 16K line Python API layer</a:t>
            </a:r>
          </a:p>
          <a:p>
            <a:pPr lvl="1">
              <a:defRPr sz="1600"/>
            </a:pPr>
            <a:r>
              <a:t>Comprehensive testing with CI enforcement</a:t>
            </a:r>
          </a:p>
          <a:p>
            <a:pPr lvl="1">
              <a:defRPr sz="1600"/>
            </a:pPr>
            <a:r>
              <a:t>Multi-platform support (Ubuntu, macOS, Windows)</a:t>
            </a:r>
          </a:p>
          <a:p>
            <a:pPr>
              <a:defRPr sz="1800"/>
            </a:pPr>
            <a:r>
              <a:t>Recent Activity</a:t>
            </a:r>
          </a:p>
          <a:p>
            <a:pPr lvl="1">
              <a:defRPr sz="1600"/>
            </a:pPr>
            <a:r>
              <a:t>Tetgen and pyspade wrapper development</a:t>
            </a:r>
          </a:p>
          <a:p>
            <a:pPr lvl="1">
              <a:defRPr sz="1600"/>
            </a:pPr>
            <a:r>
              <a:t>Parameter exposure for low-level control</a:t>
            </a:r>
          </a:p>
          <a:p>
            <a:pPr lvl="1">
              <a:defRPr sz="1600"/>
            </a:pPr>
            <a:r>
              <a:t>Volume meshing improvements with boundary markers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Relationship to Main DTCC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DTCC Core IS the Foundation</a:t>
            </a:r>
          </a:p>
          <a:p>
            <a:pPr lvl="1">
              <a:defRPr sz="1600"/>
            </a:pPr>
            <a:r>
              <a:t>All core functionality lives here</a:t>
            </a:r>
          </a:p>
          <a:p>
            <a:pPr lvl="1">
              <a:defRPr sz="1600"/>
            </a:pPr>
            <a:r>
              <a:t>Main dtcc is a meta-package wrapper</a:t>
            </a:r>
          </a:p>
          <a:p>
            <a:pPr lvl="1">
              <a:defRPr sz="1600"/>
            </a:pPr>
            <a:r>
              <a:t>Main dtcc imports: common, model, builder, io</a:t>
            </a:r>
          </a:p>
          <a:p>
            <a:pPr>
              <a:defRPr sz="1800"/>
            </a:pPr>
            <a:r>
              <a:t>Division of Responsibilities</a:t>
            </a:r>
          </a:p>
          <a:p>
            <a:pPr lvl="1">
              <a:defRPr sz="1600"/>
            </a:pPr>
            <a:r>
              <a:t>dtcc-core: Implementation, algorithms, testing</a:t>
            </a:r>
          </a:p>
          <a:p>
            <a:pPr lvl="1">
              <a:defRPr sz="1600"/>
            </a:pPr>
            <a:r>
              <a:t>dtcc (main): User-facing demos, documentation</a:t>
            </a:r>
          </a:p>
          <a:p>
            <a:pPr>
              <a:defRPr sz="1800"/>
            </a:pPr>
            <a:r>
              <a:t>Version Coordination</a:t>
            </a:r>
          </a:p>
          <a:p>
            <a:pPr lvl="1">
              <a:defRPr sz="1600"/>
            </a:pPr>
            <a:r>
              <a:t>dtcc-core: v0.9.3dev (slightly ahead)</a:t>
            </a:r>
          </a:p>
          <a:p>
            <a:pPr lvl="1">
              <a:defRPr sz="1600"/>
            </a:pPr>
            <a:r>
              <a:t>dtcc: v0.9.2dev</a:t>
            </a:r>
          </a:p>
          <a:p>
            <a:pPr lvl="1">
              <a:defRPr sz="1600"/>
            </a:pPr>
            <a:r>
              <a:t>Main dtcc depends on dtcc-core via Git (develop branch)</a:t>
            </a:r>
          </a:p>
          <a:p>
            <a:pPr>
              <a:defRPr sz="1800"/>
            </a:pPr>
            <a:r>
              <a:t>Code Distribution</a:t>
            </a:r>
          </a:p>
          <a:p>
            <a:pPr lvl="1">
              <a:defRPr sz="1600"/>
            </a:pPr>
            <a:r>
              <a:t>93.6% of code is in dtcc-core</a:t>
            </a:r>
          </a:p>
          <a:p>
            <a:pPr lvl="1">
              <a:defRPr sz="1600"/>
            </a:pPr>
            <a:r>
              <a:t>Main dtcc adds convenience layer + demos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Performance</a:t>
            </a:r>
          </a:p>
          <a:p>
            <a:pPr lvl="1">
              <a:defRPr sz="1600"/>
            </a:pPr>
            <a:r>
              <a:t>C++ core for computational efficiency</a:t>
            </a:r>
          </a:p>
          <a:p>
            <a:pPr lvl="1">
              <a:defRPr sz="1600"/>
            </a:pPr>
            <a:r>
              <a:t>pybind11 for low-overhead Python bindings</a:t>
            </a:r>
          </a:p>
          <a:p>
            <a:pPr lvl="1">
              <a:defRPr sz="1600"/>
            </a:pPr>
            <a:r>
              <a:t>Optimized for large-scale urban data</a:t>
            </a:r>
          </a:p>
          <a:p>
            <a:pPr>
              <a:defRPr sz="1800"/>
            </a:pPr>
            <a:r>
              <a:t>Modularity</a:t>
            </a:r>
          </a:p>
          <a:p>
            <a:pPr lvl="1">
              <a:defRPr sz="1600"/>
            </a:pPr>
            <a:r>
              <a:t>Clean separation: model, builder, io</a:t>
            </a:r>
          </a:p>
          <a:p>
            <a:pPr lvl="1">
              <a:defRPr sz="1600"/>
            </a:pPr>
            <a:r>
              <a:t>Mixin-based extensibility</a:t>
            </a:r>
          </a:p>
          <a:p>
            <a:pPr lvl="1">
              <a:defRPr sz="1600"/>
            </a:pPr>
            <a:r>
              <a:t>Registered method pattern for clean APIs</a:t>
            </a:r>
          </a:p>
          <a:p>
            <a:pPr>
              <a:defRPr sz="1800"/>
            </a:pPr>
            <a:r>
              <a:t>Reliability</a:t>
            </a:r>
          </a:p>
          <a:p>
            <a:pPr lvl="1">
              <a:defRPr sz="1600"/>
            </a:pPr>
            <a:r>
              <a:t>Comprehensive test coverage enforced by CI</a:t>
            </a:r>
          </a:p>
          <a:p>
            <a:pPr lvl="1">
              <a:defRPr sz="1600"/>
            </a:pPr>
            <a:r>
              <a:t>Public API verification in strict mode</a:t>
            </a:r>
          </a:p>
          <a:p>
            <a:pPr lvl="1">
              <a:defRPr sz="1600"/>
            </a:pPr>
            <a:r>
              <a:t>Multi-platform testing</a:t>
            </a:r>
          </a:p>
          <a:p>
            <a:pPr>
              <a:defRPr sz="1800"/>
            </a:pPr>
            <a:r>
              <a:t>Scientific Rigor</a:t>
            </a:r>
          </a:p>
          <a:p>
            <a:pPr lvl="1">
              <a:defRPr sz="1600"/>
            </a:pPr>
            <a:r>
              <a:t>Academic backing (Chalmers University)</a:t>
            </a:r>
          </a:p>
          <a:p>
            <a:pPr lvl="1">
              <a:defRPr sz="1600"/>
            </a:pPr>
            <a:r>
              <a:t>Open-source MIT license</a:t>
            </a:r>
          </a:p>
          <a:p>
            <a:pPr lvl="1">
              <a:defRPr sz="1600"/>
            </a:pPr>
            <a:r>
              <a:t>Documentation-first approach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DTCC Core is the computational engine of DTCC Platform</a:t>
            </a:r>
          </a:p>
          <a:p>
            <a:pPr>
              <a:defRPr sz="1800"/>
            </a:pPr>
            <a:r>
              <a:t>Hybrid architecture combines performance and usability:</a:t>
            </a:r>
          </a:p>
          <a:p>
            <a:pPr lvl="1">
              <a:defRPr sz="1600"/>
            </a:pPr>
            <a:r>
              <a:t>240K+ lines of C++ for high-performance computing</a:t>
            </a:r>
          </a:p>
          <a:p>
            <a:pPr lvl="1">
              <a:defRPr sz="1600"/>
            </a:pPr>
            <a:r>
              <a:t>16K lines of Python for clean, accessible API</a:t>
            </a:r>
          </a:p>
          <a:p>
            <a:pPr>
              <a:defRPr sz="1800"/>
            </a:pPr>
            <a:r>
              <a:t>Comprehensive and well-tested:</a:t>
            </a:r>
          </a:p>
          <a:p>
            <a:pPr lvl="1">
              <a:defRPr sz="1600"/>
            </a:pPr>
            <a:r>
              <a:t>39 test files with CI-enforced coverage</a:t>
            </a:r>
          </a:p>
          <a:p>
            <a:pPr lvl="1">
              <a:defRPr sz="1600"/>
            </a:pPr>
            <a:r>
              <a:t>All public API functions must be tested</a:t>
            </a:r>
          </a:p>
          <a:p>
            <a:pPr>
              <a:defRPr sz="1800"/>
            </a:pPr>
            <a:r>
              <a:t>Active development with focused team</a:t>
            </a:r>
          </a:p>
          <a:p>
            <a:pPr lvl="1">
              <a:defRPr sz="1600"/>
            </a:pPr>
            <a:r>
              <a:t>6 core contributors, 361 commits in 14 months</a:t>
            </a:r>
          </a:p>
          <a:p>
            <a:pPr lvl="1">
              <a:defRPr sz="1600"/>
            </a:pPr>
            <a:r>
              <a:t>Approaching 1.0.0 release</a:t>
            </a:r>
          </a:p>
          <a:p>
            <a:pPr>
              <a:defRPr sz="1800"/>
            </a:pPr>
            <a:r>
              <a:t>Foundation for urban digital twin applications</a:t>
            </a:r>
          </a:p>
          <a:p>
            <a:pPr>
              <a:defRPr sz="1800"/>
            </a:pPr>
            <a:r>
              <a:t>MIT License enables broad adoption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